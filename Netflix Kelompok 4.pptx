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Poppins Bold" charset="1" panose="00000800000000000000"/>
      <p:regular r:id="rId30"/>
    </p:embeddedFont>
    <p:embeddedFont>
      <p:font typeface="Open Sauce Bold" charset="1" panose="00000800000000000000"/>
      <p:regular r:id="rId31"/>
    </p:embeddedFont>
    <p:embeddedFont>
      <p:font typeface="Poppins"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958148"/>
            <a:ext cx="15268703" cy="3886200"/>
          </a:xfrm>
          <a:prstGeom prst="rect">
            <a:avLst/>
          </a:prstGeom>
        </p:spPr>
        <p:txBody>
          <a:bodyPr anchor="t" rtlCol="false" tIns="0" lIns="0" bIns="0" rIns="0">
            <a:spAutoFit/>
          </a:bodyPr>
          <a:lstStyle/>
          <a:p>
            <a:pPr algn="l">
              <a:lnSpc>
                <a:spcPts val="14250"/>
              </a:lnSpc>
            </a:pPr>
            <a:r>
              <a:rPr lang="en-US" b="true" sz="15000" spc="-750">
                <a:solidFill>
                  <a:srgbClr val="000000"/>
                </a:solidFill>
                <a:latin typeface="Poppins Bold"/>
                <a:ea typeface="Poppins Bold"/>
                <a:cs typeface="Poppins Bold"/>
                <a:sym typeface="Poppins Bold"/>
              </a:rPr>
              <a:t>Analisis Konten </a:t>
            </a:r>
            <a:r>
              <a:rPr lang="en-US" b="true" sz="15000" spc="-750">
                <a:solidFill>
                  <a:srgbClr val="C70202"/>
                </a:solidFill>
                <a:latin typeface="Poppins Bold"/>
                <a:ea typeface="Poppins Bold"/>
                <a:cs typeface="Poppins Bold"/>
                <a:sym typeface="Poppins Bold"/>
              </a:rPr>
              <a:t>Netflix</a:t>
            </a:r>
          </a:p>
        </p:txBody>
      </p:sp>
      <p:sp>
        <p:nvSpPr>
          <p:cNvPr name="TextBox 4" id="4"/>
          <p:cNvSpPr txBox="true"/>
          <p:nvPr/>
        </p:nvSpPr>
        <p:spPr>
          <a:xfrm rot="0">
            <a:off x="11745010" y="7639357"/>
            <a:ext cx="3871198" cy="770253"/>
          </a:xfrm>
          <a:prstGeom prst="rect">
            <a:avLst/>
          </a:prstGeom>
        </p:spPr>
        <p:txBody>
          <a:bodyPr anchor="t" rtlCol="false" tIns="0" lIns="0" bIns="0" rIns="0">
            <a:spAutoFit/>
          </a:bodyPr>
          <a:lstStyle/>
          <a:p>
            <a:pPr algn="l">
              <a:lnSpc>
                <a:spcPts val="5980"/>
              </a:lnSpc>
            </a:pPr>
            <a:r>
              <a:rPr lang="en-US" b="true" sz="4600" spc="230">
                <a:solidFill>
                  <a:srgbClr val="000000"/>
                </a:solidFill>
                <a:latin typeface="Poppins Bold"/>
                <a:ea typeface="Poppins Bold"/>
                <a:cs typeface="Poppins Bold"/>
                <a:sym typeface="Poppins Bold"/>
              </a:rPr>
              <a:t>Kelompok 4</a:t>
            </a:r>
          </a:p>
        </p:txBody>
      </p:sp>
      <p:sp>
        <p:nvSpPr>
          <p:cNvPr name="TextBox 5" id="5"/>
          <p:cNvSpPr txBox="true"/>
          <p:nvPr/>
        </p:nvSpPr>
        <p:spPr>
          <a:xfrm rot="0">
            <a:off x="10675457" y="8381035"/>
            <a:ext cx="6010305" cy="1163955"/>
          </a:xfrm>
          <a:prstGeom prst="rect">
            <a:avLst/>
          </a:prstGeom>
        </p:spPr>
        <p:txBody>
          <a:bodyPr anchor="t" rtlCol="false" tIns="0" lIns="0" bIns="0" rIns="0">
            <a:spAutoFit/>
          </a:bodyPr>
          <a:lstStyle/>
          <a:p>
            <a:pPr algn="l">
              <a:lnSpc>
                <a:spcPts val="4680"/>
              </a:lnSpc>
            </a:pPr>
            <a:r>
              <a:rPr lang="en-US" b="true" sz="3600" spc="179" u="sng">
                <a:solidFill>
                  <a:srgbClr val="000000"/>
                </a:solidFill>
                <a:latin typeface="Open Sauce Bold"/>
                <a:ea typeface="Open Sauce Bold"/>
                <a:cs typeface="Open Sauce Bold"/>
                <a:sym typeface="Open Sauce Bold"/>
              </a:rPr>
              <a:t>Asri, Fajar, Aini, Makruf</a:t>
            </a:r>
          </a:p>
          <a:p>
            <a:pPr algn="l">
              <a:lnSpc>
                <a:spcPts val="468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284287"/>
            <a:ext cx="5902672"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Introduction</a:t>
            </a:r>
          </a:p>
        </p:txBody>
      </p:sp>
      <p:sp>
        <p:nvSpPr>
          <p:cNvPr name="TextBox 4" id="4"/>
          <p:cNvSpPr txBox="true"/>
          <p:nvPr/>
        </p:nvSpPr>
        <p:spPr>
          <a:xfrm rot="0">
            <a:off x="1876541" y="2429182"/>
            <a:ext cx="14534918" cy="6248866"/>
          </a:xfrm>
          <a:prstGeom prst="rect">
            <a:avLst/>
          </a:prstGeom>
        </p:spPr>
        <p:txBody>
          <a:bodyPr anchor="t" rtlCol="false" tIns="0" lIns="0" bIns="0" rIns="0">
            <a:spAutoFit/>
          </a:bodyPr>
          <a:lstStyle/>
          <a:p>
            <a:pPr algn="just">
              <a:lnSpc>
                <a:spcPts val="2909"/>
              </a:lnSpc>
            </a:pPr>
          </a:p>
          <a:p>
            <a:pPr algn="just">
              <a:lnSpc>
                <a:spcPts val="2909"/>
              </a:lnSpc>
            </a:pPr>
            <a:r>
              <a:rPr lang="en-US" sz="2238" spc="111">
                <a:solidFill>
                  <a:srgbClr val="000000"/>
                </a:solidFill>
                <a:latin typeface="Poppins"/>
                <a:ea typeface="Poppins"/>
                <a:cs typeface="Poppins"/>
                <a:sym typeface="Poppins"/>
              </a:rPr>
              <a:t>Netflix adalah platform layanan streaming digital yang menyediakan berbagai jenis hiburan seperti film, serial TV, dokumenter, anime, dan tayangan original yang dapat diakses melalui internet. Netflix beroperasi secara global dan memiliki jutaan pengguna di berbagai negara.</a:t>
            </a:r>
          </a:p>
          <a:p>
            <a:pPr algn="just">
              <a:lnSpc>
                <a:spcPts val="2909"/>
              </a:lnSpc>
            </a:pPr>
          </a:p>
          <a:p>
            <a:pPr algn="just">
              <a:lnSpc>
                <a:spcPts val="2909"/>
              </a:lnSpc>
            </a:pPr>
            <a:r>
              <a:rPr lang="en-US" sz="2238" spc="111">
                <a:solidFill>
                  <a:srgbClr val="000000"/>
                </a:solidFill>
                <a:latin typeface="Poppins"/>
                <a:ea typeface="Poppins"/>
                <a:cs typeface="Poppins"/>
                <a:sym typeface="Poppins"/>
              </a:rPr>
              <a:t>Dataset Netflix berisi kumpulan Movies dan TV Show pada Netflix. Dataset ini berisi kumpulan data Movie dan TV Show yang tersedia pada platform Netflix. Dataset ini mencakup berbagai informasi seperti jenis konten (type), judul (title), sutradara (director), negara produksi (country), tahun rilis (release_year), rating usia (rating), genre (listed_in), serta tanggal penambahan konten ke Netflix (date_added).</a:t>
            </a:r>
          </a:p>
          <a:p>
            <a:pPr algn="just">
              <a:lnSpc>
                <a:spcPts val="2909"/>
              </a:lnSpc>
            </a:pPr>
          </a:p>
          <a:p>
            <a:pPr algn="just">
              <a:lnSpc>
                <a:spcPts val="2909"/>
              </a:lnSpc>
            </a:pPr>
            <a:r>
              <a:rPr lang="en-US" sz="2238" spc="111">
                <a:solidFill>
                  <a:srgbClr val="000000"/>
                </a:solidFill>
                <a:latin typeface="Poppins"/>
                <a:ea typeface="Poppins"/>
                <a:cs typeface="Poppins"/>
                <a:sym typeface="Poppins"/>
              </a:rPr>
              <a:t>Analisis dataset Netflix dilakukan untuk menganalisis distribusi konten Netflix berdasarkan jenis tayangan, negara produksi, genre, rating usia, tahun rilis, waktu penambahan konten, dan perkembangan konten dari waktu ke waktu. Analisis dilakukan untuk memahami karakteristik katalog Netflix dan memperoleh insight terkait strategi konten serta segmentasi target penonton.</a:t>
            </a:r>
          </a:p>
          <a:p>
            <a:pPr algn="just">
              <a:lnSpc>
                <a:spcPts val="290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Business Understanding</a:t>
            </a:r>
          </a:p>
        </p:txBody>
      </p:sp>
      <p:sp>
        <p:nvSpPr>
          <p:cNvPr name="TextBox 4" id="4"/>
          <p:cNvSpPr txBox="true"/>
          <p:nvPr/>
        </p:nvSpPr>
        <p:spPr>
          <a:xfrm rot="0">
            <a:off x="1028700" y="3279557"/>
            <a:ext cx="2098834" cy="546100"/>
          </a:xfrm>
          <a:prstGeom prst="rect">
            <a:avLst/>
          </a:prstGeom>
        </p:spPr>
        <p:txBody>
          <a:bodyPr anchor="t" rtlCol="false" tIns="0" lIns="0" bIns="0" rIns="0">
            <a:spAutoFit/>
          </a:bodyPr>
          <a:lstStyle/>
          <a:p>
            <a:pPr algn="l">
              <a:lnSpc>
                <a:spcPts val="3799"/>
              </a:lnSpc>
            </a:pPr>
            <a:r>
              <a:rPr lang="en-US" b="true" sz="3999" spc="-199">
                <a:solidFill>
                  <a:srgbClr val="C70202"/>
                </a:solidFill>
                <a:latin typeface="Poppins Bold"/>
                <a:ea typeface="Poppins Bold"/>
                <a:cs typeface="Poppins Bold"/>
                <a:sym typeface="Poppins Bold"/>
              </a:rPr>
              <a:t>Masalah</a:t>
            </a:r>
          </a:p>
        </p:txBody>
      </p:sp>
      <p:sp>
        <p:nvSpPr>
          <p:cNvPr name="TextBox 5" id="5"/>
          <p:cNvSpPr txBox="true"/>
          <p:nvPr/>
        </p:nvSpPr>
        <p:spPr>
          <a:xfrm rot="0">
            <a:off x="1273915" y="3997069"/>
            <a:ext cx="14534918" cy="1118553"/>
          </a:xfrm>
          <a:prstGeom prst="rect">
            <a:avLst/>
          </a:prstGeom>
        </p:spPr>
        <p:txBody>
          <a:bodyPr anchor="t" rtlCol="false" tIns="0" lIns="0" bIns="0" rIns="0">
            <a:spAutoFit/>
          </a:bodyPr>
          <a:lstStyle/>
          <a:p>
            <a:pPr algn="just">
              <a:lnSpc>
                <a:spcPts val="2909"/>
              </a:lnSpc>
            </a:pPr>
            <a:r>
              <a:rPr lang="en-US" sz="2238" spc="111">
                <a:solidFill>
                  <a:srgbClr val="000000"/>
                </a:solidFill>
                <a:latin typeface="Poppins"/>
                <a:ea typeface="Poppins"/>
                <a:cs typeface="Poppins"/>
                <a:sym typeface="Poppins"/>
              </a:rPr>
              <a:t>Bagaimana Netflix dapat mengoptimalkan strategi pengembangan dan distribusi kontennya agar meningkatkan pertumbuhan pengguna melalui keseimbangan jenis konten, keberagaman global, dan kesesuaian dengan segmentasi audiens?</a:t>
            </a:r>
          </a:p>
        </p:txBody>
      </p:sp>
      <p:sp>
        <p:nvSpPr>
          <p:cNvPr name="TextBox 6" id="6"/>
          <p:cNvSpPr txBox="true"/>
          <p:nvPr/>
        </p:nvSpPr>
        <p:spPr>
          <a:xfrm rot="0">
            <a:off x="1028700" y="6259885"/>
            <a:ext cx="1669137" cy="546100"/>
          </a:xfrm>
          <a:prstGeom prst="rect">
            <a:avLst/>
          </a:prstGeom>
        </p:spPr>
        <p:txBody>
          <a:bodyPr anchor="t" rtlCol="false" tIns="0" lIns="0" bIns="0" rIns="0">
            <a:spAutoFit/>
          </a:bodyPr>
          <a:lstStyle/>
          <a:p>
            <a:pPr algn="l">
              <a:lnSpc>
                <a:spcPts val="3799"/>
              </a:lnSpc>
            </a:pPr>
            <a:r>
              <a:rPr lang="en-US" b="true" sz="3999" spc="-199">
                <a:solidFill>
                  <a:srgbClr val="C70202"/>
                </a:solidFill>
                <a:latin typeface="Poppins Bold"/>
                <a:ea typeface="Poppins Bold"/>
                <a:cs typeface="Poppins Bold"/>
                <a:sym typeface="Poppins Bold"/>
              </a:rPr>
              <a:t>Tujuan</a:t>
            </a:r>
          </a:p>
        </p:txBody>
      </p:sp>
      <p:sp>
        <p:nvSpPr>
          <p:cNvPr name="TextBox 7" id="7"/>
          <p:cNvSpPr txBox="true"/>
          <p:nvPr/>
        </p:nvSpPr>
        <p:spPr>
          <a:xfrm rot="0">
            <a:off x="1273915" y="6977435"/>
            <a:ext cx="14534918" cy="1485004"/>
          </a:xfrm>
          <a:prstGeom prst="rect">
            <a:avLst/>
          </a:prstGeom>
        </p:spPr>
        <p:txBody>
          <a:bodyPr anchor="t" rtlCol="false" tIns="0" lIns="0" bIns="0" rIns="0">
            <a:spAutoFit/>
          </a:bodyPr>
          <a:lstStyle/>
          <a:p>
            <a:pPr algn="l" marL="483225" indent="-241612" lvl="1">
              <a:lnSpc>
                <a:spcPts val="2909"/>
              </a:lnSpc>
              <a:buAutoNum type="arabicPeriod" startAt="1"/>
            </a:pPr>
            <a:r>
              <a:rPr lang="en-US" sz="2238" spc="111">
                <a:solidFill>
                  <a:srgbClr val="000000"/>
                </a:solidFill>
                <a:latin typeface="Poppins"/>
                <a:ea typeface="Poppins"/>
                <a:cs typeface="Poppins"/>
                <a:sym typeface="Poppins"/>
              </a:rPr>
              <a:t>Mengidentifikasi karakteristik katalog konten Netflix yang paling dominan dan berpotensi meningkatkan engagement pengguna.</a:t>
            </a:r>
          </a:p>
          <a:p>
            <a:pPr algn="l" marL="483225" indent="-241612" lvl="1">
              <a:lnSpc>
                <a:spcPts val="2909"/>
              </a:lnSpc>
              <a:buAutoNum type="arabicPeriod" startAt="1"/>
            </a:pPr>
            <a:r>
              <a:rPr lang="en-US" sz="2238" spc="111">
                <a:solidFill>
                  <a:srgbClr val="000000"/>
                </a:solidFill>
                <a:latin typeface="Poppins"/>
                <a:ea typeface="Poppins"/>
                <a:cs typeface="Poppins"/>
                <a:sym typeface="Poppins"/>
              </a:rPr>
              <a:t> Membantu Netflix dalam mengoptimalkan strategi konten agar lebih beragam, seimbang, dan sesuai segmentasi audiens.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980532" y="2727896"/>
            <a:ext cx="6427052" cy="6078072"/>
          </a:xfrm>
          <a:custGeom>
            <a:avLst/>
            <a:gdLst/>
            <a:ahLst/>
            <a:cxnLst/>
            <a:rect r="r" b="b" t="t" l="l"/>
            <a:pathLst>
              <a:path h="6078072" w="6427052">
                <a:moveTo>
                  <a:pt x="0" y="0"/>
                </a:moveTo>
                <a:lnTo>
                  <a:pt x="6427052" y="0"/>
                </a:lnTo>
                <a:lnTo>
                  <a:pt x="6427052" y="6078072"/>
                </a:lnTo>
                <a:lnTo>
                  <a:pt x="0" y="6078072"/>
                </a:lnTo>
                <a:lnTo>
                  <a:pt x="0" y="0"/>
                </a:lnTo>
                <a:close/>
              </a:path>
            </a:pathLst>
          </a:custGeom>
          <a:blipFill>
            <a:blip r:embed="rId3"/>
            <a:stretch>
              <a:fillRect l="0" t="0" r="0" b="0"/>
            </a:stretch>
          </a:blipFill>
        </p:spPr>
      </p:sp>
      <p:sp>
        <p:nvSpPr>
          <p:cNvPr name="TextBox 4" id="4"/>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Dataset Overview</a:t>
            </a:r>
          </a:p>
        </p:txBody>
      </p:sp>
      <p:sp>
        <p:nvSpPr>
          <p:cNvPr name="TextBox 5" id="5"/>
          <p:cNvSpPr txBox="true"/>
          <p:nvPr/>
        </p:nvSpPr>
        <p:spPr>
          <a:xfrm rot="0">
            <a:off x="1028700" y="4156069"/>
            <a:ext cx="7164586" cy="3145525"/>
          </a:xfrm>
          <a:prstGeom prst="rect">
            <a:avLst/>
          </a:prstGeom>
        </p:spPr>
        <p:txBody>
          <a:bodyPr anchor="t" rtlCol="false" tIns="0" lIns="0" bIns="0" rIns="0">
            <a:spAutoFit/>
          </a:bodyPr>
          <a:lstStyle/>
          <a:p>
            <a:pPr algn="l">
              <a:lnSpc>
                <a:spcPts val="3549"/>
              </a:lnSpc>
            </a:pPr>
            <a:r>
              <a:rPr lang="en-US" sz="2535" b="true">
                <a:solidFill>
                  <a:srgbClr val="000000"/>
                </a:solidFill>
                <a:latin typeface="Poppins Bold"/>
                <a:ea typeface="Poppins Bold"/>
                <a:cs typeface="Poppins Bold"/>
                <a:sym typeface="Poppins Bold"/>
              </a:rPr>
              <a:t>Informasi Umum Dataset</a:t>
            </a:r>
          </a:p>
          <a:p>
            <a:pPr algn="l">
              <a:lnSpc>
                <a:spcPts val="3549"/>
              </a:lnSpc>
            </a:pPr>
            <a:r>
              <a:rPr lang="en-US" sz="2535">
                <a:solidFill>
                  <a:srgbClr val="000000"/>
                </a:solidFill>
                <a:latin typeface="Poppins"/>
                <a:ea typeface="Poppins"/>
                <a:cs typeface="Poppins"/>
                <a:sym typeface="Poppins"/>
              </a:rPr>
              <a:t>Nama Dataset: Netflix </a:t>
            </a:r>
            <a:r>
              <a:rPr lang="en-US" sz="2535">
                <a:solidFill>
                  <a:srgbClr val="000000"/>
                </a:solidFill>
                <a:latin typeface="Poppins"/>
                <a:ea typeface="Poppins"/>
                <a:cs typeface="Poppins"/>
                <a:sym typeface="Poppins"/>
              </a:rPr>
              <a:t>Titles</a:t>
            </a:r>
          </a:p>
          <a:p>
            <a:pPr algn="l">
              <a:lnSpc>
                <a:spcPts val="3549"/>
              </a:lnSpc>
            </a:pPr>
            <a:r>
              <a:rPr lang="en-US" sz="2535">
                <a:solidFill>
                  <a:srgbClr val="000000"/>
                </a:solidFill>
                <a:latin typeface="Poppins"/>
                <a:ea typeface="Poppins"/>
                <a:cs typeface="Poppins"/>
                <a:sym typeface="Poppins"/>
              </a:rPr>
              <a:t>Format File: CSV</a:t>
            </a:r>
          </a:p>
          <a:p>
            <a:pPr algn="l">
              <a:lnSpc>
                <a:spcPts val="3549"/>
              </a:lnSpc>
            </a:pPr>
            <a:r>
              <a:rPr lang="en-US" sz="2535">
                <a:solidFill>
                  <a:srgbClr val="000000"/>
                </a:solidFill>
                <a:latin typeface="Poppins"/>
                <a:ea typeface="Poppins"/>
                <a:cs typeface="Poppins"/>
                <a:sym typeface="Poppins"/>
              </a:rPr>
              <a:t>Jumlah Data: ±8.800 baris</a:t>
            </a:r>
          </a:p>
          <a:p>
            <a:pPr algn="l">
              <a:lnSpc>
                <a:spcPts val="3549"/>
              </a:lnSpc>
            </a:pPr>
            <a:r>
              <a:rPr lang="en-US" sz="2535">
                <a:solidFill>
                  <a:srgbClr val="000000"/>
                </a:solidFill>
                <a:latin typeface="Poppins"/>
                <a:ea typeface="Poppins"/>
                <a:cs typeface="Poppins"/>
                <a:sym typeface="Poppins"/>
              </a:rPr>
              <a:t>Jumlah Kolom: 12 kolom utama</a:t>
            </a:r>
          </a:p>
          <a:p>
            <a:pPr algn="l">
              <a:lnSpc>
                <a:spcPts val="3549"/>
              </a:lnSpc>
            </a:pPr>
            <a:r>
              <a:rPr lang="en-US" sz="2535">
                <a:solidFill>
                  <a:srgbClr val="000000"/>
                </a:solidFill>
                <a:latin typeface="Poppins"/>
                <a:ea typeface="Poppins"/>
                <a:cs typeface="Poppins"/>
                <a:sym typeface="Poppins"/>
              </a:rPr>
              <a:t>Sumber Dataset: GitHub Dataset Netflix Titles</a:t>
            </a:r>
          </a:p>
          <a:p>
            <a:pPr algn="l">
              <a:lnSpc>
                <a:spcPts val="354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685093" y="3096717"/>
            <a:ext cx="6578945" cy="2046783"/>
          </a:xfrm>
          <a:custGeom>
            <a:avLst/>
            <a:gdLst/>
            <a:ahLst/>
            <a:cxnLst/>
            <a:rect r="r" b="b" t="t" l="l"/>
            <a:pathLst>
              <a:path h="2046783" w="6578945">
                <a:moveTo>
                  <a:pt x="0" y="0"/>
                </a:moveTo>
                <a:lnTo>
                  <a:pt x="6578945" y="0"/>
                </a:lnTo>
                <a:lnTo>
                  <a:pt x="6578945" y="2046783"/>
                </a:lnTo>
                <a:lnTo>
                  <a:pt x="0" y="2046783"/>
                </a:lnTo>
                <a:lnTo>
                  <a:pt x="0" y="0"/>
                </a:lnTo>
                <a:close/>
              </a:path>
            </a:pathLst>
          </a:custGeom>
          <a:blipFill>
            <a:blip r:embed="rId3"/>
            <a:stretch>
              <a:fillRect l="0" t="0" r="0" b="0"/>
            </a:stretch>
          </a:blipFill>
        </p:spPr>
      </p:sp>
      <p:sp>
        <p:nvSpPr>
          <p:cNvPr name="Freeform 4" id="4"/>
          <p:cNvSpPr/>
          <p:nvPr/>
        </p:nvSpPr>
        <p:spPr>
          <a:xfrm flipH="false" flipV="false" rot="0">
            <a:off x="9382773" y="3096717"/>
            <a:ext cx="7010591" cy="2391634"/>
          </a:xfrm>
          <a:custGeom>
            <a:avLst/>
            <a:gdLst/>
            <a:ahLst/>
            <a:cxnLst/>
            <a:rect r="r" b="b" t="t" l="l"/>
            <a:pathLst>
              <a:path h="2391634" w="7010591">
                <a:moveTo>
                  <a:pt x="0" y="0"/>
                </a:moveTo>
                <a:lnTo>
                  <a:pt x="7010591" y="0"/>
                </a:lnTo>
                <a:lnTo>
                  <a:pt x="7010591" y="2391634"/>
                </a:lnTo>
                <a:lnTo>
                  <a:pt x="0" y="2391634"/>
                </a:lnTo>
                <a:lnTo>
                  <a:pt x="0" y="0"/>
                </a:lnTo>
                <a:close/>
              </a:path>
            </a:pathLst>
          </a:custGeom>
          <a:blipFill>
            <a:blip r:embed="rId4"/>
            <a:stretch>
              <a:fillRect l="0" t="0" r="0" b="0"/>
            </a:stretch>
          </a:blipFill>
        </p:spPr>
      </p:sp>
      <p:sp>
        <p:nvSpPr>
          <p:cNvPr name="Freeform 5" id="5"/>
          <p:cNvSpPr/>
          <p:nvPr/>
        </p:nvSpPr>
        <p:spPr>
          <a:xfrm flipH="false" flipV="false" rot="0">
            <a:off x="4741757" y="6326014"/>
            <a:ext cx="8804485" cy="1927350"/>
          </a:xfrm>
          <a:custGeom>
            <a:avLst/>
            <a:gdLst/>
            <a:ahLst/>
            <a:cxnLst/>
            <a:rect r="r" b="b" t="t" l="l"/>
            <a:pathLst>
              <a:path h="1927350" w="8804485">
                <a:moveTo>
                  <a:pt x="0" y="0"/>
                </a:moveTo>
                <a:lnTo>
                  <a:pt x="8804486" y="0"/>
                </a:lnTo>
                <a:lnTo>
                  <a:pt x="8804486" y="1927350"/>
                </a:lnTo>
                <a:lnTo>
                  <a:pt x="0" y="1927350"/>
                </a:lnTo>
                <a:lnTo>
                  <a:pt x="0" y="0"/>
                </a:lnTo>
                <a:close/>
              </a:path>
            </a:pathLst>
          </a:custGeom>
          <a:blipFill>
            <a:blip r:embed="rId5"/>
            <a:stretch>
              <a:fillRect l="0" t="0" r="0" b="0"/>
            </a:stretch>
          </a:blipFill>
        </p:spPr>
      </p:sp>
      <p:sp>
        <p:nvSpPr>
          <p:cNvPr name="TextBox 6" id="6"/>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SQL Analysis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3636054"/>
            <a:ext cx="7512674" cy="2179693"/>
          </a:xfrm>
          <a:custGeom>
            <a:avLst/>
            <a:gdLst/>
            <a:ahLst/>
            <a:cxnLst/>
            <a:rect r="r" b="b" t="t" l="l"/>
            <a:pathLst>
              <a:path h="2179693" w="7512674">
                <a:moveTo>
                  <a:pt x="0" y="0"/>
                </a:moveTo>
                <a:lnTo>
                  <a:pt x="7512674" y="0"/>
                </a:lnTo>
                <a:lnTo>
                  <a:pt x="7512674" y="2179693"/>
                </a:lnTo>
                <a:lnTo>
                  <a:pt x="0" y="2179693"/>
                </a:lnTo>
                <a:lnTo>
                  <a:pt x="0" y="0"/>
                </a:lnTo>
                <a:close/>
              </a:path>
            </a:pathLst>
          </a:custGeom>
          <a:blipFill>
            <a:blip r:embed="rId3"/>
            <a:stretch>
              <a:fillRect l="0" t="0" r="0" b="0"/>
            </a:stretch>
          </a:blipFill>
        </p:spPr>
      </p:sp>
      <p:sp>
        <p:nvSpPr>
          <p:cNvPr name="Freeform 4" id="4"/>
          <p:cNvSpPr/>
          <p:nvPr/>
        </p:nvSpPr>
        <p:spPr>
          <a:xfrm flipH="false" flipV="false" rot="0">
            <a:off x="9144000" y="3636054"/>
            <a:ext cx="8034557" cy="2035219"/>
          </a:xfrm>
          <a:custGeom>
            <a:avLst/>
            <a:gdLst/>
            <a:ahLst/>
            <a:cxnLst/>
            <a:rect r="r" b="b" t="t" l="l"/>
            <a:pathLst>
              <a:path h="2035219" w="8034557">
                <a:moveTo>
                  <a:pt x="0" y="0"/>
                </a:moveTo>
                <a:lnTo>
                  <a:pt x="8034557" y="0"/>
                </a:lnTo>
                <a:lnTo>
                  <a:pt x="8034557" y="2035219"/>
                </a:lnTo>
                <a:lnTo>
                  <a:pt x="0" y="2035219"/>
                </a:lnTo>
                <a:lnTo>
                  <a:pt x="0" y="0"/>
                </a:lnTo>
                <a:close/>
              </a:path>
            </a:pathLst>
          </a:custGeom>
          <a:blipFill>
            <a:blip r:embed="rId4"/>
            <a:stretch>
              <a:fillRect l="0" t="0" r="0" b="0"/>
            </a:stretch>
          </a:blipFill>
        </p:spPr>
      </p:sp>
      <p:sp>
        <p:nvSpPr>
          <p:cNvPr name="Freeform 5" id="5"/>
          <p:cNvSpPr/>
          <p:nvPr/>
        </p:nvSpPr>
        <p:spPr>
          <a:xfrm flipH="false" flipV="false" rot="0">
            <a:off x="1028700" y="6478507"/>
            <a:ext cx="7512674" cy="1923376"/>
          </a:xfrm>
          <a:custGeom>
            <a:avLst/>
            <a:gdLst/>
            <a:ahLst/>
            <a:cxnLst/>
            <a:rect r="r" b="b" t="t" l="l"/>
            <a:pathLst>
              <a:path h="1923376" w="7512674">
                <a:moveTo>
                  <a:pt x="0" y="0"/>
                </a:moveTo>
                <a:lnTo>
                  <a:pt x="7512674" y="0"/>
                </a:lnTo>
                <a:lnTo>
                  <a:pt x="7512674" y="1923377"/>
                </a:lnTo>
                <a:lnTo>
                  <a:pt x="0" y="1923377"/>
                </a:lnTo>
                <a:lnTo>
                  <a:pt x="0" y="0"/>
                </a:lnTo>
                <a:close/>
              </a:path>
            </a:pathLst>
          </a:custGeom>
          <a:blipFill>
            <a:blip r:embed="rId5"/>
            <a:stretch>
              <a:fillRect l="0" t="0" r="0" b="0"/>
            </a:stretch>
          </a:blipFill>
        </p:spPr>
      </p:sp>
      <p:sp>
        <p:nvSpPr>
          <p:cNvPr name="Freeform 6" id="6"/>
          <p:cNvSpPr/>
          <p:nvPr/>
        </p:nvSpPr>
        <p:spPr>
          <a:xfrm flipH="false" flipV="false" rot="0">
            <a:off x="9144000" y="6391809"/>
            <a:ext cx="8115300" cy="2010074"/>
          </a:xfrm>
          <a:custGeom>
            <a:avLst/>
            <a:gdLst/>
            <a:ahLst/>
            <a:cxnLst/>
            <a:rect r="r" b="b" t="t" l="l"/>
            <a:pathLst>
              <a:path h="2010074" w="8115300">
                <a:moveTo>
                  <a:pt x="0" y="0"/>
                </a:moveTo>
                <a:lnTo>
                  <a:pt x="8115300" y="0"/>
                </a:lnTo>
                <a:lnTo>
                  <a:pt x="8115300" y="2010075"/>
                </a:lnTo>
                <a:lnTo>
                  <a:pt x="0" y="2010075"/>
                </a:lnTo>
                <a:lnTo>
                  <a:pt x="0" y="0"/>
                </a:lnTo>
                <a:close/>
              </a:path>
            </a:pathLst>
          </a:custGeom>
          <a:blipFill>
            <a:blip r:embed="rId6"/>
            <a:stretch>
              <a:fillRect l="0" t="0" r="0" b="0"/>
            </a:stretch>
          </a:blipFill>
        </p:spPr>
      </p:sp>
      <p:sp>
        <p:nvSpPr>
          <p:cNvPr name="TextBox 7" id="7"/>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SQL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53100" y="3353974"/>
            <a:ext cx="6407393" cy="1058849"/>
          </a:xfrm>
          <a:custGeom>
            <a:avLst/>
            <a:gdLst/>
            <a:ahLst/>
            <a:cxnLst/>
            <a:rect r="r" b="b" t="t" l="l"/>
            <a:pathLst>
              <a:path h="1058849" w="6407393">
                <a:moveTo>
                  <a:pt x="0" y="0"/>
                </a:moveTo>
                <a:lnTo>
                  <a:pt x="6407393" y="0"/>
                </a:lnTo>
                <a:lnTo>
                  <a:pt x="6407393" y="1058849"/>
                </a:lnTo>
                <a:lnTo>
                  <a:pt x="0" y="1058849"/>
                </a:lnTo>
                <a:lnTo>
                  <a:pt x="0" y="0"/>
                </a:lnTo>
                <a:close/>
              </a:path>
            </a:pathLst>
          </a:custGeom>
          <a:blipFill>
            <a:blip r:embed="rId3"/>
            <a:stretch>
              <a:fillRect l="0" t="0" r="0" b="0"/>
            </a:stretch>
          </a:blipFill>
        </p:spPr>
      </p:sp>
      <p:sp>
        <p:nvSpPr>
          <p:cNvPr name="Freeform 4" id="4"/>
          <p:cNvSpPr/>
          <p:nvPr/>
        </p:nvSpPr>
        <p:spPr>
          <a:xfrm flipH="false" flipV="false" rot="0">
            <a:off x="1353100" y="5553653"/>
            <a:ext cx="11730038" cy="527852"/>
          </a:xfrm>
          <a:custGeom>
            <a:avLst/>
            <a:gdLst/>
            <a:ahLst/>
            <a:cxnLst/>
            <a:rect r="r" b="b" t="t" l="l"/>
            <a:pathLst>
              <a:path h="527852" w="11730038">
                <a:moveTo>
                  <a:pt x="0" y="0"/>
                </a:moveTo>
                <a:lnTo>
                  <a:pt x="11730038" y="0"/>
                </a:lnTo>
                <a:lnTo>
                  <a:pt x="11730038" y="527851"/>
                </a:lnTo>
                <a:lnTo>
                  <a:pt x="0" y="527851"/>
                </a:lnTo>
                <a:lnTo>
                  <a:pt x="0" y="0"/>
                </a:lnTo>
                <a:close/>
              </a:path>
            </a:pathLst>
          </a:custGeom>
          <a:blipFill>
            <a:blip r:embed="rId4"/>
            <a:stretch>
              <a:fillRect l="0" t="0" r="0" b="0"/>
            </a:stretch>
          </a:blipFill>
        </p:spPr>
      </p:sp>
      <p:sp>
        <p:nvSpPr>
          <p:cNvPr name="Freeform 5" id="5"/>
          <p:cNvSpPr/>
          <p:nvPr/>
        </p:nvSpPr>
        <p:spPr>
          <a:xfrm flipH="false" flipV="false" rot="0">
            <a:off x="1353100" y="6491079"/>
            <a:ext cx="11730038" cy="3035147"/>
          </a:xfrm>
          <a:custGeom>
            <a:avLst/>
            <a:gdLst/>
            <a:ahLst/>
            <a:cxnLst/>
            <a:rect r="r" b="b" t="t" l="l"/>
            <a:pathLst>
              <a:path h="3035147" w="11730038">
                <a:moveTo>
                  <a:pt x="0" y="0"/>
                </a:moveTo>
                <a:lnTo>
                  <a:pt x="11730038" y="0"/>
                </a:lnTo>
                <a:lnTo>
                  <a:pt x="11730038" y="3035148"/>
                </a:lnTo>
                <a:lnTo>
                  <a:pt x="0" y="3035148"/>
                </a:lnTo>
                <a:lnTo>
                  <a:pt x="0" y="0"/>
                </a:lnTo>
                <a:close/>
              </a:path>
            </a:pathLst>
          </a:custGeom>
          <a:blipFill>
            <a:blip r:embed="rId5"/>
            <a:stretch>
              <a:fillRect l="0" t="0" r="0" b="0"/>
            </a:stretch>
          </a:blipFill>
        </p:spPr>
      </p:sp>
      <p:sp>
        <p:nvSpPr>
          <p:cNvPr name="TextBox 6" id="6"/>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Phyton &amp; EDA</a:t>
            </a:r>
          </a:p>
        </p:txBody>
      </p:sp>
      <p:sp>
        <p:nvSpPr>
          <p:cNvPr name="TextBox 7" id="7"/>
          <p:cNvSpPr txBox="true"/>
          <p:nvPr/>
        </p:nvSpPr>
        <p:spPr>
          <a:xfrm rot="0">
            <a:off x="1028700" y="2748909"/>
            <a:ext cx="2679263"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Import Library</a:t>
            </a:r>
          </a:p>
        </p:txBody>
      </p:sp>
      <p:sp>
        <p:nvSpPr>
          <p:cNvPr name="TextBox 8" id="8"/>
          <p:cNvSpPr txBox="true"/>
          <p:nvPr/>
        </p:nvSpPr>
        <p:spPr>
          <a:xfrm rot="0">
            <a:off x="1028700" y="4946223"/>
            <a:ext cx="2084546"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Read 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89876" y="3356513"/>
            <a:ext cx="1362194" cy="526886"/>
          </a:xfrm>
          <a:custGeom>
            <a:avLst/>
            <a:gdLst/>
            <a:ahLst/>
            <a:cxnLst/>
            <a:rect r="r" b="b" t="t" l="l"/>
            <a:pathLst>
              <a:path h="526886" w="1362194">
                <a:moveTo>
                  <a:pt x="0" y="0"/>
                </a:moveTo>
                <a:lnTo>
                  <a:pt x="1362194" y="0"/>
                </a:lnTo>
                <a:lnTo>
                  <a:pt x="1362194" y="526886"/>
                </a:lnTo>
                <a:lnTo>
                  <a:pt x="0" y="526886"/>
                </a:lnTo>
                <a:lnTo>
                  <a:pt x="0" y="0"/>
                </a:lnTo>
                <a:close/>
              </a:path>
            </a:pathLst>
          </a:custGeom>
          <a:blipFill>
            <a:blip r:embed="rId3"/>
            <a:stretch>
              <a:fillRect l="0" t="0" r="0" b="0"/>
            </a:stretch>
          </a:blipFill>
        </p:spPr>
      </p:sp>
      <p:sp>
        <p:nvSpPr>
          <p:cNvPr name="Freeform 4" id="4"/>
          <p:cNvSpPr/>
          <p:nvPr/>
        </p:nvSpPr>
        <p:spPr>
          <a:xfrm flipH="false" flipV="false" rot="0">
            <a:off x="1395065" y="5131063"/>
            <a:ext cx="3044884" cy="575154"/>
          </a:xfrm>
          <a:custGeom>
            <a:avLst/>
            <a:gdLst/>
            <a:ahLst/>
            <a:cxnLst/>
            <a:rect r="r" b="b" t="t" l="l"/>
            <a:pathLst>
              <a:path h="575154" w="3044884">
                <a:moveTo>
                  <a:pt x="0" y="0"/>
                </a:moveTo>
                <a:lnTo>
                  <a:pt x="3044885" y="0"/>
                </a:lnTo>
                <a:lnTo>
                  <a:pt x="3044885" y="575154"/>
                </a:lnTo>
                <a:lnTo>
                  <a:pt x="0" y="575154"/>
                </a:lnTo>
                <a:lnTo>
                  <a:pt x="0" y="0"/>
                </a:lnTo>
                <a:close/>
              </a:path>
            </a:pathLst>
          </a:custGeom>
          <a:blipFill>
            <a:blip r:embed="rId4"/>
            <a:stretch>
              <a:fillRect l="0" t="0" r="0" b="-862764"/>
            </a:stretch>
          </a:blipFill>
        </p:spPr>
      </p:sp>
      <p:sp>
        <p:nvSpPr>
          <p:cNvPr name="Freeform 5" id="5"/>
          <p:cNvSpPr/>
          <p:nvPr/>
        </p:nvSpPr>
        <p:spPr>
          <a:xfrm flipH="false" flipV="false" rot="0">
            <a:off x="1389876" y="5906242"/>
            <a:ext cx="2535097" cy="3966771"/>
          </a:xfrm>
          <a:custGeom>
            <a:avLst/>
            <a:gdLst/>
            <a:ahLst/>
            <a:cxnLst/>
            <a:rect r="r" b="b" t="t" l="l"/>
            <a:pathLst>
              <a:path h="3966771" w="2535097">
                <a:moveTo>
                  <a:pt x="0" y="0"/>
                </a:moveTo>
                <a:lnTo>
                  <a:pt x="2535098" y="0"/>
                </a:lnTo>
                <a:lnTo>
                  <a:pt x="2535098" y="3966770"/>
                </a:lnTo>
                <a:lnTo>
                  <a:pt x="0" y="3966770"/>
                </a:lnTo>
                <a:lnTo>
                  <a:pt x="0" y="0"/>
                </a:lnTo>
                <a:close/>
              </a:path>
            </a:pathLst>
          </a:custGeom>
          <a:blipFill>
            <a:blip r:embed="rId4"/>
            <a:stretch>
              <a:fillRect l="0" t="-16222" r="0" b="0"/>
            </a:stretch>
          </a:blipFill>
        </p:spPr>
      </p:sp>
      <p:sp>
        <p:nvSpPr>
          <p:cNvPr name="Freeform 6" id="6"/>
          <p:cNvSpPr/>
          <p:nvPr/>
        </p:nvSpPr>
        <p:spPr>
          <a:xfrm flipH="false" flipV="false" rot="0">
            <a:off x="6488876" y="3356513"/>
            <a:ext cx="2259809" cy="481850"/>
          </a:xfrm>
          <a:custGeom>
            <a:avLst/>
            <a:gdLst/>
            <a:ahLst/>
            <a:cxnLst/>
            <a:rect r="r" b="b" t="t" l="l"/>
            <a:pathLst>
              <a:path h="481850" w="2259809">
                <a:moveTo>
                  <a:pt x="0" y="0"/>
                </a:moveTo>
                <a:lnTo>
                  <a:pt x="2259809" y="0"/>
                </a:lnTo>
                <a:lnTo>
                  <a:pt x="2259809" y="481849"/>
                </a:lnTo>
                <a:lnTo>
                  <a:pt x="0" y="481849"/>
                </a:lnTo>
                <a:lnTo>
                  <a:pt x="0" y="0"/>
                </a:lnTo>
                <a:close/>
              </a:path>
            </a:pathLst>
          </a:custGeom>
          <a:blipFill>
            <a:blip r:embed="rId5"/>
            <a:stretch>
              <a:fillRect l="0" t="0" r="-17647" b="-1388502"/>
            </a:stretch>
          </a:blipFill>
        </p:spPr>
      </p:sp>
      <p:sp>
        <p:nvSpPr>
          <p:cNvPr name="Freeform 7" id="7"/>
          <p:cNvSpPr/>
          <p:nvPr/>
        </p:nvSpPr>
        <p:spPr>
          <a:xfrm flipH="false" flipV="false" rot="0">
            <a:off x="6488876" y="4022062"/>
            <a:ext cx="2259809" cy="5588703"/>
          </a:xfrm>
          <a:custGeom>
            <a:avLst/>
            <a:gdLst/>
            <a:ahLst/>
            <a:cxnLst/>
            <a:rect r="r" b="b" t="t" l="l"/>
            <a:pathLst>
              <a:path h="5588703" w="2259809">
                <a:moveTo>
                  <a:pt x="0" y="0"/>
                </a:moveTo>
                <a:lnTo>
                  <a:pt x="2259809" y="0"/>
                </a:lnTo>
                <a:lnTo>
                  <a:pt x="2259809" y="5588703"/>
                </a:lnTo>
                <a:lnTo>
                  <a:pt x="0" y="5588703"/>
                </a:lnTo>
                <a:lnTo>
                  <a:pt x="0" y="0"/>
                </a:lnTo>
                <a:close/>
              </a:path>
            </a:pathLst>
          </a:custGeom>
          <a:blipFill>
            <a:blip r:embed="rId5"/>
            <a:stretch>
              <a:fillRect l="0" t="-9085" r="0" b="0"/>
            </a:stretch>
          </a:blipFill>
        </p:spPr>
      </p:sp>
      <p:sp>
        <p:nvSpPr>
          <p:cNvPr name="Freeform 8" id="8"/>
          <p:cNvSpPr/>
          <p:nvPr/>
        </p:nvSpPr>
        <p:spPr>
          <a:xfrm flipH="false" flipV="false" rot="0">
            <a:off x="10578014" y="3356513"/>
            <a:ext cx="2502358" cy="901273"/>
          </a:xfrm>
          <a:custGeom>
            <a:avLst/>
            <a:gdLst/>
            <a:ahLst/>
            <a:cxnLst/>
            <a:rect r="r" b="b" t="t" l="l"/>
            <a:pathLst>
              <a:path h="901273" w="2502358">
                <a:moveTo>
                  <a:pt x="0" y="0"/>
                </a:moveTo>
                <a:lnTo>
                  <a:pt x="2502358" y="0"/>
                </a:lnTo>
                <a:lnTo>
                  <a:pt x="2502358" y="901273"/>
                </a:lnTo>
                <a:lnTo>
                  <a:pt x="0" y="901273"/>
                </a:lnTo>
                <a:lnTo>
                  <a:pt x="0" y="0"/>
                </a:lnTo>
                <a:close/>
              </a:path>
            </a:pathLst>
          </a:custGeom>
          <a:blipFill>
            <a:blip r:embed="rId6"/>
            <a:stretch>
              <a:fillRect l="0" t="0" r="0" b="0"/>
            </a:stretch>
          </a:blipFill>
        </p:spPr>
      </p:sp>
      <p:sp>
        <p:nvSpPr>
          <p:cNvPr name="Freeform 9" id="9"/>
          <p:cNvSpPr/>
          <p:nvPr/>
        </p:nvSpPr>
        <p:spPr>
          <a:xfrm flipH="false" flipV="false" rot="0">
            <a:off x="10578014" y="5418640"/>
            <a:ext cx="6681286" cy="3005697"/>
          </a:xfrm>
          <a:custGeom>
            <a:avLst/>
            <a:gdLst/>
            <a:ahLst/>
            <a:cxnLst/>
            <a:rect r="r" b="b" t="t" l="l"/>
            <a:pathLst>
              <a:path h="3005697" w="6681286">
                <a:moveTo>
                  <a:pt x="0" y="0"/>
                </a:moveTo>
                <a:lnTo>
                  <a:pt x="6681286" y="0"/>
                </a:lnTo>
                <a:lnTo>
                  <a:pt x="6681286" y="3005697"/>
                </a:lnTo>
                <a:lnTo>
                  <a:pt x="0" y="3005697"/>
                </a:lnTo>
                <a:lnTo>
                  <a:pt x="0" y="0"/>
                </a:lnTo>
                <a:close/>
              </a:path>
            </a:pathLst>
          </a:custGeom>
          <a:blipFill>
            <a:blip r:embed="rId7"/>
            <a:stretch>
              <a:fillRect l="0" t="0" r="0" b="0"/>
            </a:stretch>
          </a:blipFill>
        </p:spPr>
      </p:sp>
      <p:sp>
        <p:nvSpPr>
          <p:cNvPr name="TextBox 10" id="10"/>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Phyton &amp; EDA</a:t>
            </a:r>
          </a:p>
        </p:txBody>
      </p:sp>
      <p:sp>
        <p:nvSpPr>
          <p:cNvPr name="TextBox 11" id="11"/>
          <p:cNvSpPr txBox="true"/>
          <p:nvPr/>
        </p:nvSpPr>
        <p:spPr>
          <a:xfrm rot="0">
            <a:off x="1028700" y="2748909"/>
            <a:ext cx="1888808"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Info Data</a:t>
            </a:r>
          </a:p>
        </p:txBody>
      </p:sp>
      <p:sp>
        <p:nvSpPr>
          <p:cNvPr name="TextBox 12" id="12"/>
          <p:cNvSpPr txBox="true"/>
          <p:nvPr/>
        </p:nvSpPr>
        <p:spPr>
          <a:xfrm rot="0">
            <a:off x="1028700" y="4523633"/>
            <a:ext cx="2647474"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Describe Data</a:t>
            </a:r>
          </a:p>
        </p:txBody>
      </p:sp>
      <p:sp>
        <p:nvSpPr>
          <p:cNvPr name="TextBox 13" id="13"/>
          <p:cNvSpPr txBox="true"/>
          <p:nvPr/>
        </p:nvSpPr>
        <p:spPr>
          <a:xfrm rot="0">
            <a:off x="6013626" y="2760693"/>
            <a:ext cx="3289221"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Cek Missing Value</a:t>
            </a:r>
          </a:p>
        </p:txBody>
      </p:sp>
      <p:sp>
        <p:nvSpPr>
          <p:cNvPr name="TextBox 14" id="14"/>
          <p:cNvSpPr txBox="true"/>
          <p:nvPr/>
        </p:nvSpPr>
        <p:spPr>
          <a:xfrm rot="0">
            <a:off x="10241639" y="2760693"/>
            <a:ext cx="2455902"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Cek Duplikat</a:t>
            </a:r>
          </a:p>
        </p:txBody>
      </p:sp>
      <p:sp>
        <p:nvSpPr>
          <p:cNvPr name="TextBox 15" id="15"/>
          <p:cNvSpPr txBox="true"/>
          <p:nvPr/>
        </p:nvSpPr>
        <p:spPr>
          <a:xfrm rot="0">
            <a:off x="10241639" y="4698761"/>
            <a:ext cx="3037761"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Isi Missing Value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95065" y="4299067"/>
            <a:ext cx="2458010" cy="5354959"/>
          </a:xfrm>
          <a:custGeom>
            <a:avLst/>
            <a:gdLst/>
            <a:ahLst/>
            <a:cxnLst/>
            <a:rect r="r" b="b" t="t" l="l"/>
            <a:pathLst>
              <a:path h="5354959" w="2458010">
                <a:moveTo>
                  <a:pt x="0" y="0"/>
                </a:moveTo>
                <a:lnTo>
                  <a:pt x="2458011" y="0"/>
                </a:lnTo>
                <a:lnTo>
                  <a:pt x="2458011" y="5354959"/>
                </a:lnTo>
                <a:lnTo>
                  <a:pt x="0" y="5354959"/>
                </a:lnTo>
                <a:lnTo>
                  <a:pt x="0" y="0"/>
                </a:lnTo>
                <a:close/>
              </a:path>
            </a:pathLst>
          </a:custGeom>
          <a:blipFill>
            <a:blip r:embed="rId3"/>
            <a:stretch>
              <a:fillRect l="0" t="-12699" r="0" b="0"/>
            </a:stretch>
          </a:blipFill>
        </p:spPr>
      </p:sp>
      <p:sp>
        <p:nvSpPr>
          <p:cNvPr name="Freeform 4" id="4"/>
          <p:cNvSpPr/>
          <p:nvPr/>
        </p:nvSpPr>
        <p:spPr>
          <a:xfrm flipH="false" flipV="false" rot="0">
            <a:off x="1395065" y="3298688"/>
            <a:ext cx="2458010" cy="659135"/>
          </a:xfrm>
          <a:custGeom>
            <a:avLst/>
            <a:gdLst/>
            <a:ahLst/>
            <a:cxnLst/>
            <a:rect r="r" b="b" t="t" l="l"/>
            <a:pathLst>
              <a:path h="659135" w="2458010">
                <a:moveTo>
                  <a:pt x="0" y="0"/>
                </a:moveTo>
                <a:lnTo>
                  <a:pt x="2458011" y="0"/>
                </a:lnTo>
                <a:lnTo>
                  <a:pt x="2458011" y="659135"/>
                </a:lnTo>
                <a:lnTo>
                  <a:pt x="0" y="659135"/>
                </a:lnTo>
                <a:lnTo>
                  <a:pt x="0" y="0"/>
                </a:lnTo>
                <a:close/>
              </a:path>
            </a:pathLst>
          </a:custGeom>
          <a:blipFill>
            <a:blip r:embed="rId3"/>
            <a:stretch>
              <a:fillRect l="-3771" t="0" r="-11292" b="-953531"/>
            </a:stretch>
          </a:blipFill>
        </p:spPr>
      </p:sp>
      <p:sp>
        <p:nvSpPr>
          <p:cNvPr name="Freeform 5" id="5"/>
          <p:cNvSpPr/>
          <p:nvPr/>
        </p:nvSpPr>
        <p:spPr>
          <a:xfrm flipH="false" flipV="false" rot="0">
            <a:off x="8891852" y="3298688"/>
            <a:ext cx="4803390" cy="2969058"/>
          </a:xfrm>
          <a:custGeom>
            <a:avLst/>
            <a:gdLst/>
            <a:ahLst/>
            <a:cxnLst/>
            <a:rect r="r" b="b" t="t" l="l"/>
            <a:pathLst>
              <a:path h="2969058" w="4803390">
                <a:moveTo>
                  <a:pt x="0" y="0"/>
                </a:moveTo>
                <a:lnTo>
                  <a:pt x="4803390" y="0"/>
                </a:lnTo>
                <a:lnTo>
                  <a:pt x="4803390" y="2969058"/>
                </a:lnTo>
                <a:lnTo>
                  <a:pt x="0" y="2969058"/>
                </a:lnTo>
                <a:lnTo>
                  <a:pt x="0" y="0"/>
                </a:lnTo>
                <a:close/>
              </a:path>
            </a:pathLst>
          </a:custGeom>
          <a:blipFill>
            <a:blip r:embed="rId4"/>
            <a:stretch>
              <a:fillRect l="0" t="0" r="0" b="0"/>
            </a:stretch>
          </a:blipFill>
        </p:spPr>
      </p:sp>
      <p:sp>
        <p:nvSpPr>
          <p:cNvPr name="Freeform 6" id="6"/>
          <p:cNvSpPr/>
          <p:nvPr/>
        </p:nvSpPr>
        <p:spPr>
          <a:xfrm flipH="false" flipV="false" rot="0">
            <a:off x="5958041" y="6410621"/>
            <a:ext cx="11301259" cy="3701162"/>
          </a:xfrm>
          <a:custGeom>
            <a:avLst/>
            <a:gdLst/>
            <a:ahLst/>
            <a:cxnLst/>
            <a:rect r="r" b="b" t="t" l="l"/>
            <a:pathLst>
              <a:path h="3701162" w="11301259">
                <a:moveTo>
                  <a:pt x="0" y="0"/>
                </a:moveTo>
                <a:lnTo>
                  <a:pt x="11301259" y="0"/>
                </a:lnTo>
                <a:lnTo>
                  <a:pt x="11301259" y="3701163"/>
                </a:lnTo>
                <a:lnTo>
                  <a:pt x="0" y="3701163"/>
                </a:lnTo>
                <a:lnTo>
                  <a:pt x="0" y="0"/>
                </a:lnTo>
                <a:close/>
              </a:path>
            </a:pathLst>
          </a:custGeom>
          <a:blipFill>
            <a:blip r:embed="rId5"/>
            <a:stretch>
              <a:fillRect l="0" t="0" r="0" b="0"/>
            </a:stretch>
          </a:blipFill>
        </p:spPr>
      </p:sp>
      <p:sp>
        <p:nvSpPr>
          <p:cNvPr name="TextBox 7" id="7"/>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Phyton &amp; EDA</a:t>
            </a:r>
          </a:p>
        </p:txBody>
      </p:sp>
      <p:sp>
        <p:nvSpPr>
          <p:cNvPr name="TextBox 8" id="8"/>
          <p:cNvSpPr txBox="true"/>
          <p:nvPr/>
        </p:nvSpPr>
        <p:spPr>
          <a:xfrm rot="0">
            <a:off x="1028700" y="2748909"/>
            <a:ext cx="3037761"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Isi Missing Value</a:t>
            </a:r>
          </a:p>
        </p:txBody>
      </p:sp>
      <p:sp>
        <p:nvSpPr>
          <p:cNvPr name="TextBox 9" id="9"/>
          <p:cNvSpPr txBox="true"/>
          <p:nvPr/>
        </p:nvSpPr>
        <p:spPr>
          <a:xfrm rot="0">
            <a:off x="7906967" y="2748909"/>
            <a:ext cx="7403407"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Ubah date_added menjadi format tanggal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63304" y="3739103"/>
            <a:ext cx="6835466" cy="5335663"/>
          </a:xfrm>
          <a:custGeom>
            <a:avLst/>
            <a:gdLst/>
            <a:ahLst/>
            <a:cxnLst/>
            <a:rect r="r" b="b" t="t" l="l"/>
            <a:pathLst>
              <a:path h="5335663" w="6835466">
                <a:moveTo>
                  <a:pt x="0" y="0"/>
                </a:moveTo>
                <a:lnTo>
                  <a:pt x="6835466" y="0"/>
                </a:lnTo>
                <a:lnTo>
                  <a:pt x="6835466" y="5335663"/>
                </a:lnTo>
                <a:lnTo>
                  <a:pt x="0" y="5335663"/>
                </a:lnTo>
                <a:lnTo>
                  <a:pt x="0" y="0"/>
                </a:lnTo>
                <a:close/>
              </a:path>
            </a:pathLst>
          </a:custGeom>
          <a:blipFill>
            <a:blip r:embed="rId3"/>
            <a:stretch>
              <a:fillRect l="0" t="0" r="0" b="0"/>
            </a:stretch>
          </a:blipFill>
        </p:spPr>
      </p:sp>
      <p:sp>
        <p:nvSpPr>
          <p:cNvPr name="Freeform 4" id="4"/>
          <p:cNvSpPr/>
          <p:nvPr/>
        </p:nvSpPr>
        <p:spPr>
          <a:xfrm flipH="false" flipV="false" rot="0">
            <a:off x="8036241" y="3844876"/>
            <a:ext cx="7384358" cy="1013043"/>
          </a:xfrm>
          <a:custGeom>
            <a:avLst/>
            <a:gdLst/>
            <a:ahLst/>
            <a:cxnLst/>
            <a:rect r="r" b="b" t="t" l="l"/>
            <a:pathLst>
              <a:path h="1013043" w="7384358">
                <a:moveTo>
                  <a:pt x="0" y="0"/>
                </a:moveTo>
                <a:lnTo>
                  <a:pt x="7384358" y="0"/>
                </a:lnTo>
                <a:lnTo>
                  <a:pt x="7384358" y="1013043"/>
                </a:lnTo>
                <a:lnTo>
                  <a:pt x="0" y="1013043"/>
                </a:lnTo>
                <a:lnTo>
                  <a:pt x="0" y="0"/>
                </a:lnTo>
                <a:close/>
              </a:path>
            </a:pathLst>
          </a:custGeom>
          <a:blipFill>
            <a:blip r:embed="rId4"/>
            <a:stretch>
              <a:fillRect l="0" t="-15486" r="0" b="0"/>
            </a:stretch>
          </a:blipFill>
        </p:spPr>
      </p:sp>
      <p:sp>
        <p:nvSpPr>
          <p:cNvPr name="Freeform 5" id="5"/>
          <p:cNvSpPr/>
          <p:nvPr/>
        </p:nvSpPr>
        <p:spPr>
          <a:xfrm flipH="false" flipV="false" rot="0">
            <a:off x="8036241" y="5246353"/>
            <a:ext cx="9693714" cy="3441269"/>
          </a:xfrm>
          <a:custGeom>
            <a:avLst/>
            <a:gdLst/>
            <a:ahLst/>
            <a:cxnLst/>
            <a:rect r="r" b="b" t="t" l="l"/>
            <a:pathLst>
              <a:path h="3441269" w="9693714">
                <a:moveTo>
                  <a:pt x="0" y="0"/>
                </a:moveTo>
                <a:lnTo>
                  <a:pt x="9693715" y="0"/>
                </a:lnTo>
                <a:lnTo>
                  <a:pt x="9693715" y="3441269"/>
                </a:lnTo>
                <a:lnTo>
                  <a:pt x="0" y="3441269"/>
                </a:lnTo>
                <a:lnTo>
                  <a:pt x="0" y="0"/>
                </a:lnTo>
                <a:close/>
              </a:path>
            </a:pathLst>
          </a:custGeom>
          <a:blipFill>
            <a:blip r:embed="rId5"/>
            <a:stretch>
              <a:fillRect l="0" t="0" r="0" b="0"/>
            </a:stretch>
          </a:blipFill>
        </p:spPr>
      </p:sp>
      <p:sp>
        <p:nvSpPr>
          <p:cNvPr name="TextBox 6" id="6"/>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Phyton &amp; EDA</a:t>
            </a:r>
          </a:p>
        </p:txBody>
      </p:sp>
      <p:sp>
        <p:nvSpPr>
          <p:cNvPr name="TextBox 7" id="7"/>
          <p:cNvSpPr txBox="true"/>
          <p:nvPr/>
        </p:nvSpPr>
        <p:spPr>
          <a:xfrm rot="0">
            <a:off x="1028700" y="2748909"/>
            <a:ext cx="4291965"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Mengelompokkan rating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129824" y="3948458"/>
            <a:ext cx="6028352" cy="4321751"/>
          </a:xfrm>
          <a:custGeom>
            <a:avLst/>
            <a:gdLst/>
            <a:ahLst/>
            <a:cxnLst/>
            <a:rect r="r" b="b" t="t" l="l"/>
            <a:pathLst>
              <a:path h="4321751" w="6028352">
                <a:moveTo>
                  <a:pt x="0" y="0"/>
                </a:moveTo>
                <a:lnTo>
                  <a:pt x="6028352" y="0"/>
                </a:lnTo>
                <a:lnTo>
                  <a:pt x="6028352" y="4321751"/>
                </a:lnTo>
                <a:lnTo>
                  <a:pt x="0" y="4321751"/>
                </a:lnTo>
                <a:lnTo>
                  <a:pt x="0" y="0"/>
                </a:lnTo>
                <a:close/>
              </a:path>
            </a:pathLst>
          </a:custGeom>
          <a:blipFill>
            <a:blip r:embed="rId3"/>
            <a:stretch>
              <a:fillRect l="0" t="0" r="0" b="0"/>
            </a:stretch>
          </a:blipFill>
        </p:spPr>
      </p:sp>
      <p:sp>
        <p:nvSpPr>
          <p:cNvPr name="TextBox 4" id="4"/>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Phyton &amp; EDA</a:t>
            </a:r>
          </a:p>
        </p:txBody>
      </p:sp>
      <p:sp>
        <p:nvSpPr>
          <p:cNvPr name="TextBox 5" id="5"/>
          <p:cNvSpPr txBox="true"/>
          <p:nvPr/>
        </p:nvSpPr>
        <p:spPr>
          <a:xfrm rot="0">
            <a:off x="6564273" y="2940978"/>
            <a:ext cx="5159454" cy="407404"/>
          </a:xfrm>
          <a:prstGeom prst="rect">
            <a:avLst/>
          </a:prstGeom>
        </p:spPr>
        <p:txBody>
          <a:bodyPr anchor="t" rtlCol="false" tIns="0" lIns="0" bIns="0" rIns="0">
            <a:spAutoFit/>
          </a:bodyPr>
          <a:lstStyle/>
          <a:p>
            <a:pPr algn="l" marL="504225" indent="-252112" lvl="1">
              <a:lnSpc>
                <a:spcPts val="3269"/>
              </a:lnSpc>
              <a:buAutoNum type="arabicPeriod" startAt="1"/>
            </a:pPr>
            <a:r>
              <a:rPr lang="en-US" b="true" sz="2335">
                <a:solidFill>
                  <a:srgbClr val="000000"/>
                </a:solidFill>
                <a:latin typeface="Poppins Bold"/>
                <a:ea typeface="Poppins Bold"/>
                <a:cs typeface="Poppins Bold"/>
                <a:sym typeface="Poppins Bold"/>
              </a:rPr>
              <a:t>Membersihkan kolom Country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391677" y="3567341"/>
            <a:ext cx="3695398" cy="3768214"/>
          </a:xfrm>
          <a:custGeom>
            <a:avLst/>
            <a:gdLst/>
            <a:ahLst/>
            <a:cxnLst/>
            <a:rect r="r" b="b" t="t" l="l"/>
            <a:pathLst>
              <a:path h="3768214" w="3695398">
                <a:moveTo>
                  <a:pt x="0" y="0"/>
                </a:moveTo>
                <a:lnTo>
                  <a:pt x="3695399" y="0"/>
                </a:lnTo>
                <a:lnTo>
                  <a:pt x="3695399" y="3768214"/>
                </a:lnTo>
                <a:lnTo>
                  <a:pt x="0" y="3768214"/>
                </a:lnTo>
                <a:lnTo>
                  <a:pt x="0" y="0"/>
                </a:lnTo>
                <a:close/>
              </a:path>
            </a:pathLst>
          </a:custGeom>
          <a:blipFill>
            <a:blip r:embed="rId3"/>
            <a:stretch>
              <a:fillRect l="0" t="0" r="0" b="0"/>
            </a:stretch>
          </a:blipFill>
        </p:spPr>
      </p:sp>
      <p:sp>
        <p:nvSpPr>
          <p:cNvPr name="TextBox 4" id="4"/>
          <p:cNvSpPr txBox="true"/>
          <p:nvPr/>
        </p:nvSpPr>
        <p:spPr>
          <a:xfrm rot="0">
            <a:off x="1028700" y="1406525"/>
            <a:ext cx="15025348" cy="838200"/>
          </a:xfrm>
          <a:prstGeom prst="rect">
            <a:avLst/>
          </a:prstGeom>
        </p:spPr>
        <p:txBody>
          <a:bodyPr anchor="t" rtlCol="false" tIns="0" lIns="0" bIns="0" rIns="0">
            <a:spAutoFit/>
          </a:bodyPr>
          <a:lstStyle/>
          <a:p>
            <a:pPr algn="l">
              <a:lnSpc>
                <a:spcPts val="5700"/>
              </a:lnSpc>
            </a:pPr>
            <a:r>
              <a:rPr lang="en-US" b="true" sz="6000" spc="-300">
                <a:solidFill>
                  <a:srgbClr val="C70202"/>
                </a:solidFill>
                <a:latin typeface="Poppins Bold"/>
                <a:ea typeface="Poppins Bold"/>
                <a:cs typeface="Poppins Bold"/>
                <a:sym typeface="Poppins Bold"/>
              </a:rPr>
              <a:t>Distribusi tipe konten</a:t>
            </a:r>
          </a:p>
        </p:txBody>
      </p:sp>
      <p:sp>
        <p:nvSpPr>
          <p:cNvPr name="TextBox 5" id="5"/>
          <p:cNvSpPr txBox="true"/>
          <p:nvPr/>
        </p:nvSpPr>
        <p:spPr>
          <a:xfrm rot="0">
            <a:off x="1425526" y="8781977"/>
            <a:ext cx="3879145" cy="385651"/>
          </a:xfrm>
          <a:prstGeom prst="rect">
            <a:avLst/>
          </a:prstGeom>
        </p:spPr>
        <p:txBody>
          <a:bodyPr anchor="t" rtlCol="false" tIns="0" lIns="0" bIns="0" rIns="0">
            <a:spAutoFit/>
          </a:bodyPr>
          <a:lstStyle/>
          <a:p>
            <a:pPr algn="just">
              <a:lnSpc>
                <a:spcPts val="2909"/>
              </a:lnSpc>
            </a:pPr>
            <a:r>
              <a:rPr lang="en-US" sz="2238" spc="111">
                <a:solidFill>
                  <a:srgbClr val="000000"/>
                </a:solidFill>
                <a:latin typeface="Poppins"/>
                <a:ea typeface="Poppins"/>
                <a:cs typeface="Poppins"/>
                <a:sym typeface="Poppins"/>
              </a:rPr>
              <a:t>df['type'].value_counts()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470241" y="3756129"/>
            <a:ext cx="3896104" cy="3987624"/>
          </a:xfrm>
          <a:custGeom>
            <a:avLst/>
            <a:gdLst/>
            <a:ahLst/>
            <a:cxnLst/>
            <a:rect r="r" b="b" t="t" l="l"/>
            <a:pathLst>
              <a:path h="3987624" w="3896104">
                <a:moveTo>
                  <a:pt x="0" y="0"/>
                </a:moveTo>
                <a:lnTo>
                  <a:pt x="3896104" y="0"/>
                </a:lnTo>
                <a:lnTo>
                  <a:pt x="3896104" y="3987623"/>
                </a:lnTo>
                <a:lnTo>
                  <a:pt x="0" y="3987623"/>
                </a:lnTo>
                <a:lnTo>
                  <a:pt x="0" y="0"/>
                </a:lnTo>
                <a:close/>
              </a:path>
            </a:pathLst>
          </a:custGeom>
          <a:blipFill>
            <a:blip r:embed="rId3"/>
            <a:stretch>
              <a:fillRect l="0" t="0" r="0" b="0"/>
            </a:stretch>
          </a:blipFill>
        </p:spPr>
      </p:sp>
      <p:sp>
        <p:nvSpPr>
          <p:cNvPr name="TextBox 4" id="4"/>
          <p:cNvSpPr txBox="true"/>
          <p:nvPr/>
        </p:nvSpPr>
        <p:spPr>
          <a:xfrm rot="0">
            <a:off x="1274477" y="1398879"/>
            <a:ext cx="15739047" cy="838201"/>
          </a:xfrm>
          <a:prstGeom prst="rect">
            <a:avLst/>
          </a:prstGeom>
        </p:spPr>
        <p:txBody>
          <a:bodyPr anchor="t" rtlCol="false" tIns="0" lIns="0" bIns="0" rIns="0">
            <a:spAutoFit/>
          </a:bodyPr>
          <a:lstStyle/>
          <a:p>
            <a:pPr algn="l">
              <a:lnSpc>
                <a:spcPts val="5700"/>
              </a:lnSpc>
            </a:pPr>
            <a:r>
              <a:rPr lang="en-US" b="true" sz="6000" spc="-300">
                <a:solidFill>
                  <a:srgbClr val="C70202"/>
                </a:solidFill>
                <a:latin typeface="Poppins Bold"/>
                <a:ea typeface="Poppins Bold"/>
                <a:cs typeface="Poppins Bold"/>
                <a:sym typeface="Poppins Bold"/>
              </a:rPr>
              <a:t>Negara dengan produksi konten terbanyak</a:t>
            </a:r>
          </a:p>
        </p:txBody>
      </p:sp>
      <p:sp>
        <p:nvSpPr>
          <p:cNvPr name="TextBox 5" id="5"/>
          <p:cNvSpPr txBox="true"/>
          <p:nvPr/>
        </p:nvSpPr>
        <p:spPr>
          <a:xfrm rot="0">
            <a:off x="1425526" y="8781977"/>
            <a:ext cx="8010618" cy="385651"/>
          </a:xfrm>
          <a:prstGeom prst="rect">
            <a:avLst/>
          </a:prstGeom>
        </p:spPr>
        <p:txBody>
          <a:bodyPr anchor="t" rtlCol="false" tIns="0" lIns="0" bIns="0" rIns="0">
            <a:spAutoFit/>
          </a:bodyPr>
          <a:lstStyle/>
          <a:p>
            <a:pPr algn="just">
              <a:lnSpc>
                <a:spcPts val="2909"/>
              </a:lnSpc>
            </a:pPr>
            <a:r>
              <a:rPr lang="en-US" sz="2238" spc="111">
                <a:solidFill>
                  <a:srgbClr val="000000"/>
                </a:solidFill>
                <a:latin typeface="Poppins"/>
                <a:ea typeface="Poppins"/>
                <a:cs typeface="Poppins"/>
                <a:sym typeface="Poppins"/>
              </a:rPr>
              <a:t>df.groupby('type')['country'].value_counts().head()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719096" y="3263678"/>
            <a:ext cx="5644557" cy="3759644"/>
          </a:xfrm>
          <a:custGeom>
            <a:avLst/>
            <a:gdLst/>
            <a:ahLst/>
            <a:cxnLst/>
            <a:rect r="r" b="b" t="t" l="l"/>
            <a:pathLst>
              <a:path h="3759644" w="5644557">
                <a:moveTo>
                  <a:pt x="0" y="0"/>
                </a:moveTo>
                <a:lnTo>
                  <a:pt x="5644557" y="0"/>
                </a:lnTo>
                <a:lnTo>
                  <a:pt x="5644557" y="3759644"/>
                </a:lnTo>
                <a:lnTo>
                  <a:pt x="0" y="3759644"/>
                </a:lnTo>
                <a:lnTo>
                  <a:pt x="0" y="0"/>
                </a:lnTo>
                <a:close/>
              </a:path>
            </a:pathLst>
          </a:custGeom>
          <a:blipFill>
            <a:blip r:embed="rId3"/>
            <a:stretch>
              <a:fillRect l="-14182" t="0" r="0" b="0"/>
            </a:stretch>
          </a:blipFill>
        </p:spPr>
      </p:sp>
      <p:sp>
        <p:nvSpPr>
          <p:cNvPr name="TextBox 4" id="4"/>
          <p:cNvSpPr txBox="true"/>
          <p:nvPr/>
        </p:nvSpPr>
        <p:spPr>
          <a:xfrm rot="0">
            <a:off x="1257484" y="1376785"/>
            <a:ext cx="15773033" cy="838201"/>
          </a:xfrm>
          <a:prstGeom prst="rect">
            <a:avLst/>
          </a:prstGeom>
        </p:spPr>
        <p:txBody>
          <a:bodyPr anchor="t" rtlCol="false" tIns="0" lIns="0" bIns="0" rIns="0">
            <a:spAutoFit/>
          </a:bodyPr>
          <a:lstStyle/>
          <a:p>
            <a:pPr algn="l">
              <a:lnSpc>
                <a:spcPts val="5700"/>
              </a:lnSpc>
            </a:pPr>
            <a:r>
              <a:rPr lang="en-US" b="true" sz="6000" spc="-300">
                <a:solidFill>
                  <a:srgbClr val="C70202"/>
                </a:solidFill>
                <a:latin typeface="Poppins Bold"/>
                <a:ea typeface="Poppins Bold"/>
                <a:cs typeface="Poppins Bold"/>
                <a:sym typeface="Poppins Bold"/>
              </a:rPr>
              <a:t>Dominasi rating (usia) berdasarkan negara</a:t>
            </a:r>
          </a:p>
        </p:txBody>
      </p:sp>
      <p:sp>
        <p:nvSpPr>
          <p:cNvPr name="TextBox 5" id="5"/>
          <p:cNvSpPr txBox="true"/>
          <p:nvPr/>
        </p:nvSpPr>
        <p:spPr>
          <a:xfrm rot="0">
            <a:off x="1425526" y="8415526"/>
            <a:ext cx="14935630" cy="1118553"/>
          </a:xfrm>
          <a:prstGeom prst="rect">
            <a:avLst/>
          </a:prstGeom>
        </p:spPr>
        <p:txBody>
          <a:bodyPr anchor="t" rtlCol="false" tIns="0" lIns="0" bIns="0" rIns="0">
            <a:spAutoFit/>
          </a:bodyPr>
          <a:lstStyle/>
          <a:p>
            <a:pPr algn="just">
              <a:lnSpc>
                <a:spcPts val="2909"/>
              </a:lnSpc>
            </a:pPr>
            <a:r>
              <a:rPr lang="en-US" sz="2238" spc="111">
                <a:solidFill>
                  <a:srgbClr val="000000"/>
                </a:solidFill>
                <a:latin typeface="Poppins"/>
                <a:ea typeface="Poppins"/>
                <a:cs typeface="Poppins"/>
                <a:sym typeface="Poppins"/>
              </a:rPr>
              <a:t>df.groupby('country')['rating_group'].value_counts().reset_index(name='count').sort_values(by='count',ascending=False)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323519" y="3681718"/>
            <a:ext cx="8435711" cy="4418706"/>
          </a:xfrm>
          <a:custGeom>
            <a:avLst/>
            <a:gdLst/>
            <a:ahLst/>
            <a:cxnLst/>
            <a:rect r="r" b="b" t="t" l="l"/>
            <a:pathLst>
              <a:path h="4418706" w="8435711">
                <a:moveTo>
                  <a:pt x="0" y="0"/>
                </a:moveTo>
                <a:lnTo>
                  <a:pt x="8435710" y="0"/>
                </a:lnTo>
                <a:lnTo>
                  <a:pt x="8435710" y="4418706"/>
                </a:lnTo>
                <a:lnTo>
                  <a:pt x="0" y="4418706"/>
                </a:lnTo>
                <a:lnTo>
                  <a:pt x="0" y="0"/>
                </a:lnTo>
                <a:close/>
              </a:path>
            </a:pathLst>
          </a:custGeom>
          <a:blipFill>
            <a:blip r:embed="rId3"/>
            <a:stretch>
              <a:fillRect l="0" t="0" r="0" b="0"/>
            </a:stretch>
          </a:blipFill>
        </p:spPr>
      </p:sp>
      <p:sp>
        <p:nvSpPr>
          <p:cNvPr name="TextBox 4" id="4"/>
          <p:cNvSpPr txBox="true"/>
          <p:nvPr/>
        </p:nvSpPr>
        <p:spPr>
          <a:xfrm rot="0">
            <a:off x="1631326" y="1364893"/>
            <a:ext cx="15025348" cy="838201"/>
          </a:xfrm>
          <a:prstGeom prst="rect">
            <a:avLst/>
          </a:prstGeom>
        </p:spPr>
        <p:txBody>
          <a:bodyPr anchor="t" rtlCol="false" tIns="0" lIns="0" bIns="0" rIns="0">
            <a:spAutoFit/>
          </a:bodyPr>
          <a:lstStyle/>
          <a:p>
            <a:pPr algn="l">
              <a:lnSpc>
                <a:spcPts val="5700"/>
              </a:lnSpc>
            </a:pPr>
            <a:r>
              <a:rPr lang="en-US" b="true" sz="6000" spc="-300">
                <a:solidFill>
                  <a:srgbClr val="C70202"/>
                </a:solidFill>
                <a:latin typeface="Poppins Bold"/>
                <a:ea typeface="Poppins Bold"/>
                <a:cs typeface="Poppins Bold"/>
                <a:sym typeface="Poppins Bold"/>
              </a:rPr>
              <a:t>Dominasi genre konten</a:t>
            </a:r>
          </a:p>
        </p:txBody>
      </p:sp>
      <p:sp>
        <p:nvSpPr>
          <p:cNvPr name="TextBox 5" id="5"/>
          <p:cNvSpPr txBox="true"/>
          <p:nvPr/>
        </p:nvSpPr>
        <p:spPr>
          <a:xfrm rot="0">
            <a:off x="1425526" y="8781977"/>
            <a:ext cx="5698051" cy="385651"/>
          </a:xfrm>
          <a:prstGeom prst="rect">
            <a:avLst/>
          </a:prstGeom>
        </p:spPr>
        <p:txBody>
          <a:bodyPr anchor="t" rtlCol="false" tIns="0" lIns="0" bIns="0" rIns="0">
            <a:spAutoFit/>
          </a:bodyPr>
          <a:lstStyle/>
          <a:p>
            <a:pPr algn="just">
              <a:lnSpc>
                <a:spcPts val="2909"/>
              </a:lnSpc>
            </a:pPr>
            <a:r>
              <a:rPr lang="en-US" sz="2238" spc="111">
                <a:solidFill>
                  <a:srgbClr val="000000"/>
                </a:solidFill>
                <a:latin typeface="Poppins"/>
                <a:ea typeface="Poppins"/>
                <a:cs typeface="Poppins"/>
                <a:sym typeface="Poppins"/>
              </a:rPr>
              <a:t>df['listed_in'].value_counts().head()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709918" y="3134308"/>
            <a:ext cx="4012720" cy="4018383"/>
          </a:xfrm>
          <a:custGeom>
            <a:avLst/>
            <a:gdLst/>
            <a:ahLst/>
            <a:cxnLst/>
            <a:rect r="r" b="b" t="t" l="l"/>
            <a:pathLst>
              <a:path h="4018383" w="4012720">
                <a:moveTo>
                  <a:pt x="0" y="0"/>
                </a:moveTo>
                <a:lnTo>
                  <a:pt x="4012720" y="0"/>
                </a:lnTo>
                <a:lnTo>
                  <a:pt x="4012720" y="4018384"/>
                </a:lnTo>
                <a:lnTo>
                  <a:pt x="0" y="4018384"/>
                </a:lnTo>
                <a:lnTo>
                  <a:pt x="0" y="0"/>
                </a:lnTo>
                <a:close/>
              </a:path>
            </a:pathLst>
          </a:custGeom>
          <a:blipFill>
            <a:blip r:embed="rId3"/>
            <a:stretch>
              <a:fillRect l="0" t="0" r="0" b="-18287"/>
            </a:stretch>
          </a:blipFill>
        </p:spPr>
      </p:sp>
      <p:sp>
        <p:nvSpPr>
          <p:cNvPr name="TextBox 4" id="4"/>
          <p:cNvSpPr txBox="true"/>
          <p:nvPr/>
        </p:nvSpPr>
        <p:spPr>
          <a:xfrm rot="0">
            <a:off x="1946313" y="1308814"/>
            <a:ext cx="15025348" cy="1562101"/>
          </a:xfrm>
          <a:prstGeom prst="rect">
            <a:avLst/>
          </a:prstGeom>
        </p:spPr>
        <p:txBody>
          <a:bodyPr anchor="t" rtlCol="false" tIns="0" lIns="0" bIns="0" rIns="0">
            <a:spAutoFit/>
          </a:bodyPr>
          <a:lstStyle/>
          <a:p>
            <a:pPr algn="l">
              <a:lnSpc>
                <a:spcPts val="5700"/>
              </a:lnSpc>
            </a:pPr>
            <a:r>
              <a:rPr lang="en-US" b="true" sz="6000" spc="-300">
                <a:solidFill>
                  <a:srgbClr val="C70202"/>
                </a:solidFill>
                <a:latin typeface="Poppins Bold"/>
                <a:ea typeface="Poppins Bold"/>
                <a:cs typeface="Poppins Bold"/>
                <a:sym typeface="Poppins Bold"/>
              </a:rPr>
              <a:t>Distribusi konten berdasarkan klasifikasi usia</a:t>
            </a:r>
          </a:p>
        </p:txBody>
      </p:sp>
      <p:sp>
        <p:nvSpPr>
          <p:cNvPr name="TextBox 5" id="5"/>
          <p:cNvSpPr txBox="true"/>
          <p:nvPr/>
        </p:nvSpPr>
        <p:spPr>
          <a:xfrm rot="0">
            <a:off x="1425526" y="8781977"/>
            <a:ext cx="6429033" cy="385651"/>
          </a:xfrm>
          <a:prstGeom prst="rect">
            <a:avLst/>
          </a:prstGeom>
        </p:spPr>
        <p:txBody>
          <a:bodyPr anchor="t" rtlCol="false" tIns="0" lIns="0" bIns="0" rIns="0">
            <a:spAutoFit/>
          </a:bodyPr>
          <a:lstStyle/>
          <a:p>
            <a:pPr algn="just">
              <a:lnSpc>
                <a:spcPts val="2909"/>
              </a:lnSpc>
            </a:pPr>
            <a:r>
              <a:rPr lang="en-US" sz="2238" spc="111">
                <a:solidFill>
                  <a:srgbClr val="000000"/>
                </a:solidFill>
                <a:latin typeface="Poppins"/>
                <a:ea typeface="Poppins"/>
                <a:cs typeface="Poppins"/>
                <a:sym typeface="Poppins"/>
              </a:rPr>
              <a:t>df['rating_group'].value_counts().head()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116624" y="3683556"/>
            <a:ext cx="4849501" cy="4558188"/>
          </a:xfrm>
          <a:custGeom>
            <a:avLst/>
            <a:gdLst/>
            <a:ahLst/>
            <a:cxnLst/>
            <a:rect r="r" b="b" t="t" l="l"/>
            <a:pathLst>
              <a:path h="4558188" w="4849501">
                <a:moveTo>
                  <a:pt x="0" y="0"/>
                </a:moveTo>
                <a:lnTo>
                  <a:pt x="4849500" y="0"/>
                </a:lnTo>
                <a:lnTo>
                  <a:pt x="4849500" y="4558188"/>
                </a:lnTo>
                <a:lnTo>
                  <a:pt x="0" y="4558188"/>
                </a:lnTo>
                <a:lnTo>
                  <a:pt x="0" y="0"/>
                </a:lnTo>
                <a:close/>
              </a:path>
            </a:pathLst>
          </a:custGeom>
          <a:blipFill>
            <a:blip r:embed="rId3"/>
            <a:stretch>
              <a:fillRect l="0" t="0" r="0" b="0"/>
            </a:stretch>
          </a:blipFill>
        </p:spPr>
      </p:sp>
      <p:sp>
        <p:nvSpPr>
          <p:cNvPr name="TextBox 4" id="4"/>
          <p:cNvSpPr txBox="true"/>
          <p:nvPr/>
        </p:nvSpPr>
        <p:spPr>
          <a:xfrm rot="0">
            <a:off x="1767269" y="1104900"/>
            <a:ext cx="15841004" cy="1562101"/>
          </a:xfrm>
          <a:prstGeom prst="rect">
            <a:avLst/>
          </a:prstGeom>
        </p:spPr>
        <p:txBody>
          <a:bodyPr anchor="t" rtlCol="false" tIns="0" lIns="0" bIns="0" rIns="0">
            <a:spAutoFit/>
          </a:bodyPr>
          <a:lstStyle/>
          <a:p>
            <a:pPr algn="l">
              <a:lnSpc>
                <a:spcPts val="5700"/>
              </a:lnSpc>
            </a:pPr>
            <a:r>
              <a:rPr lang="en-US" b="true" sz="6000" spc="-300">
                <a:solidFill>
                  <a:srgbClr val="C70202"/>
                </a:solidFill>
                <a:latin typeface="Poppins Bold"/>
                <a:ea typeface="Poppins Bold"/>
                <a:cs typeface="Poppins Bold"/>
                <a:sym typeface="Poppins Bold"/>
              </a:rPr>
              <a:t>Perkembangan produksi konten berdasarkan tahun rilis</a:t>
            </a:r>
          </a:p>
        </p:txBody>
      </p:sp>
      <p:sp>
        <p:nvSpPr>
          <p:cNvPr name="TextBox 5" id="5"/>
          <p:cNvSpPr txBox="true"/>
          <p:nvPr/>
        </p:nvSpPr>
        <p:spPr>
          <a:xfrm rot="0">
            <a:off x="1425526" y="8781977"/>
            <a:ext cx="7555041" cy="385651"/>
          </a:xfrm>
          <a:prstGeom prst="rect">
            <a:avLst/>
          </a:prstGeom>
        </p:spPr>
        <p:txBody>
          <a:bodyPr anchor="t" rtlCol="false" tIns="0" lIns="0" bIns="0" rIns="0">
            <a:spAutoFit/>
          </a:bodyPr>
          <a:lstStyle/>
          <a:p>
            <a:pPr algn="just">
              <a:lnSpc>
                <a:spcPts val="2909"/>
              </a:lnSpc>
            </a:pPr>
            <a:r>
              <a:rPr lang="en-US" sz="2238" spc="111">
                <a:solidFill>
                  <a:srgbClr val="000000"/>
                </a:solidFill>
                <a:latin typeface="Poppins"/>
                <a:ea typeface="Poppins"/>
                <a:cs typeface="Poppins"/>
                <a:sym typeface="Poppins"/>
              </a:rPr>
              <a:t>df[['type','release_year']].value_counts().head()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292856" y="3647013"/>
            <a:ext cx="4497036" cy="4631276"/>
          </a:xfrm>
          <a:custGeom>
            <a:avLst/>
            <a:gdLst/>
            <a:ahLst/>
            <a:cxnLst/>
            <a:rect r="r" b="b" t="t" l="l"/>
            <a:pathLst>
              <a:path h="4631276" w="4497036">
                <a:moveTo>
                  <a:pt x="0" y="0"/>
                </a:moveTo>
                <a:lnTo>
                  <a:pt x="4497036" y="0"/>
                </a:lnTo>
                <a:lnTo>
                  <a:pt x="4497036" y="4631275"/>
                </a:lnTo>
                <a:lnTo>
                  <a:pt x="0" y="4631275"/>
                </a:lnTo>
                <a:lnTo>
                  <a:pt x="0" y="0"/>
                </a:lnTo>
                <a:close/>
              </a:path>
            </a:pathLst>
          </a:custGeom>
          <a:blipFill>
            <a:blip r:embed="rId3"/>
            <a:stretch>
              <a:fillRect l="0" t="0" r="0" b="0"/>
            </a:stretch>
          </a:blipFill>
        </p:spPr>
      </p:sp>
      <p:sp>
        <p:nvSpPr>
          <p:cNvPr name="TextBox 4" id="4"/>
          <p:cNvSpPr txBox="true"/>
          <p:nvPr/>
        </p:nvSpPr>
        <p:spPr>
          <a:xfrm rot="0">
            <a:off x="1946313" y="1104900"/>
            <a:ext cx="15025348" cy="1562101"/>
          </a:xfrm>
          <a:prstGeom prst="rect">
            <a:avLst/>
          </a:prstGeom>
        </p:spPr>
        <p:txBody>
          <a:bodyPr anchor="t" rtlCol="false" tIns="0" lIns="0" bIns="0" rIns="0">
            <a:spAutoFit/>
          </a:bodyPr>
          <a:lstStyle/>
          <a:p>
            <a:pPr algn="l">
              <a:lnSpc>
                <a:spcPts val="5700"/>
              </a:lnSpc>
            </a:pPr>
            <a:r>
              <a:rPr lang="en-US" b="true" sz="6000" spc="-300">
                <a:solidFill>
                  <a:srgbClr val="C70202"/>
                </a:solidFill>
                <a:latin typeface="Poppins Bold"/>
                <a:ea typeface="Poppins Bold"/>
                <a:cs typeface="Poppins Bold"/>
                <a:sym typeface="Poppins Bold"/>
              </a:rPr>
              <a:t>Perkembangan konten berdasarkan tahun penambahan setiap tahun</a:t>
            </a:r>
          </a:p>
        </p:txBody>
      </p:sp>
      <p:sp>
        <p:nvSpPr>
          <p:cNvPr name="TextBox 5" id="5"/>
          <p:cNvSpPr txBox="true"/>
          <p:nvPr/>
        </p:nvSpPr>
        <p:spPr>
          <a:xfrm rot="0">
            <a:off x="1425526" y="8781977"/>
            <a:ext cx="7593387" cy="385651"/>
          </a:xfrm>
          <a:prstGeom prst="rect">
            <a:avLst/>
          </a:prstGeom>
        </p:spPr>
        <p:txBody>
          <a:bodyPr anchor="t" rtlCol="false" tIns="0" lIns="0" bIns="0" rIns="0">
            <a:spAutoFit/>
          </a:bodyPr>
          <a:lstStyle/>
          <a:p>
            <a:pPr algn="just">
              <a:lnSpc>
                <a:spcPts val="2909"/>
              </a:lnSpc>
            </a:pPr>
            <a:r>
              <a:rPr lang="en-US" sz="2238" spc="111">
                <a:solidFill>
                  <a:srgbClr val="000000"/>
                </a:solidFill>
                <a:latin typeface="Poppins"/>
                <a:ea typeface="Poppins"/>
                <a:cs typeface="Poppins"/>
                <a:sym typeface="Poppins"/>
              </a:rPr>
              <a:t>df.groupby('type')['year_added'].value_counts()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631326" y="143409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Business Metrics</a:t>
            </a:r>
          </a:p>
        </p:txBody>
      </p:sp>
      <p:sp>
        <p:nvSpPr>
          <p:cNvPr name="TextBox 4" id="4"/>
          <p:cNvSpPr txBox="true"/>
          <p:nvPr/>
        </p:nvSpPr>
        <p:spPr>
          <a:xfrm rot="0">
            <a:off x="1519130" y="3732530"/>
            <a:ext cx="14534918" cy="2764790"/>
          </a:xfrm>
          <a:prstGeom prst="rect">
            <a:avLst/>
          </a:prstGeom>
        </p:spPr>
        <p:txBody>
          <a:bodyPr anchor="t" rtlCol="false" tIns="0" lIns="0" bIns="0" rIns="0">
            <a:spAutoFit/>
          </a:bodyPr>
          <a:lstStyle/>
          <a:p>
            <a:pPr algn="l" marL="604519" indent="-302260" lvl="1">
              <a:lnSpc>
                <a:spcPts val="3639"/>
              </a:lnSpc>
              <a:buAutoNum type="arabicPeriod" startAt="1"/>
            </a:pPr>
            <a:r>
              <a:rPr lang="en-US" b="true" sz="2799" spc="139">
                <a:solidFill>
                  <a:srgbClr val="000000"/>
                </a:solidFill>
                <a:latin typeface="Poppins Bold"/>
                <a:ea typeface="Poppins Bold"/>
                <a:cs typeface="Poppins Bold"/>
                <a:sym typeface="Poppins Bold"/>
              </a:rPr>
              <a:t>Distribusi tipe konten</a:t>
            </a:r>
          </a:p>
          <a:p>
            <a:pPr algn="l" marL="604519" indent="-302260" lvl="1">
              <a:lnSpc>
                <a:spcPts val="3639"/>
              </a:lnSpc>
              <a:buAutoNum type="arabicPeriod" startAt="1"/>
            </a:pPr>
            <a:r>
              <a:rPr lang="en-US" b="true" sz="2799" spc="139">
                <a:solidFill>
                  <a:srgbClr val="000000"/>
                </a:solidFill>
                <a:latin typeface="Poppins Bold"/>
                <a:ea typeface="Poppins Bold"/>
                <a:cs typeface="Poppins Bold"/>
                <a:sym typeface="Poppins Bold"/>
              </a:rPr>
              <a:t>Negara produksi terbanyak</a:t>
            </a:r>
          </a:p>
          <a:p>
            <a:pPr algn="l" marL="604519" indent="-302260" lvl="1">
              <a:lnSpc>
                <a:spcPts val="3639"/>
              </a:lnSpc>
              <a:buAutoNum type="arabicPeriod" startAt="1"/>
            </a:pPr>
            <a:r>
              <a:rPr lang="en-US" b="true" sz="2799" spc="139">
                <a:solidFill>
                  <a:srgbClr val="000000"/>
                </a:solidFill>
                <a:latin typeface="Poppins Bold"/>
                <a:ea typeface="Poppins Bold"/>
                <a:cs typeface="Poppins Bold"/>
                <a:sym typeface="Poppins Bold"/>
              </a:rPr>
              <a:t>Peringkat dominan berdasar negara</a:t>
            </a:r>
          </a:p>
          <a:p>
            <a:pPr algn="l" marL="604519" indent="-302260" lvl="1">
              <a:lnSpc>
                <a:spcPts val="3639"/>
              </a:lnSpc>
              <a:buAutoNum type="arabicPeriod" startAt="1"/>
            </a:pPr>
            <a:r>
              <a:rPr lang="en-US" b="true" sz="2799" spc="139">
                <a:solidFill>
                  <a:srgbClr val="000000"/>
                </a:solidFill>
                <a:latin typeface="Poppins Bold"/>
                <a:ea typeface="Poppins Bold"/>
                <a:cs typeface="Poppins Bold"/>
                <a:sym typeface="Poppins Bold"/>
              </a:rPr>
              <a:t>Genre terbanyak</a:t>
            </a:r>
          </a:p>
          <a:p>
            <a:pPr algn="l" marL="604519" indent="-302260" lvl="1">
              <a:lnSpc>
                <a:spcPts val="3639"/>
              </a:lnSpc>
              <a:buAutoNum type="arabicPeriod" startAt="1"/>
            </a:pPr>
            <a:r>
              <a:rPr lang="en-US" b="true" sz="2799" spc="139">
                <a:solidFill>
                  <a:srgbClr val="000000"/>
                </a:solidFill>
                <a:latin typeface="Poppins Bold"/>
                <a:ea typeface="Poppins Bold"/>
                <a:cs typeface="Poppins Bold"/>
                <a:sym typeface="Poppins Bold"/>
              </a:rPr>
              <a:t>Distribusi rating group</a:t>
            </a:r>
          </a:p>
          <a:p>
            <a:pPr algn="l" marL="604519" indent="-302260" lvl="1">
              <a:lnSpc>
                <a:spcPts val="3639"/>
              </a:lnSpc>
              <a:buAutoNum type="arabicPeriod" startAt="1"/>
            </a:pPr>
            <a:r>
              <a:rPr lang="en-US" b="true" sz="2799" spc="139">
                <a:solidFill>
                  <a:srgbClr val="000000"/>
                </a:solidFill>
                <a:latin typeface="Poppins Bold"/>
                <a:ea typeface="Poppins Bold"/>
                <a:cs typeface="Poppins Bold"/>
                <a:sym typeface="Poppins Bold"/>
              </a:rPr>
              <a:t>Pertumbuhan konten per tahun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Insight</a:t>
            </a:r>
          </a:p>
        </p:txBody>
      </p:sp>
      <p:sp>
        <p:nvSpPr>
          <p:cNvPr name="TextBox 4" id="4"/>
          <p:cNvSpPr txBox="true"/>
          <p:nvPr/>
        </p:nvSpPr>
        <p:spPr>
          <a:xfrm rot="0">
            <a:off x="1028700" y="2981904"/>
            <a:ext cx="16184769" cy="844010"/>
          </a:xfrm>
          <a:prstGeom prst="rect">
            <a:avLst/>
          </a:prstGeom>
        </p:spPr>
        <p:txBody>
          <a:bodyPr anchor="t" rtlCol="false" tIns="0" lIns="0" bIns="0" rIns="0">
            <a:spAutoFit/>
          </a:bodyPr>
          <a:lstStyle/>
          <a:p>
            <a:pPr algn="l" marL="517350" indent="-258675" lvl="1">
              <a:lnSpc>
                <a:spcPts val="3354"/>
              </a:lnSpc>
              <a:buAutoNum type="arabicPeriod" startAt="1"/>
            </a:pPr>
            <a:r>
              <a:rPr lang="en-US" b="true" sz="2396">
                <a:solidFill>
                  <a:srgbClr val="000000"/>
                </a:solidFill>
                <a:latin typeface="Poppins Bold"/>
                <a:ea typeface="Poppins Bold"/>
                <a:cs typeface="Poppins Bold"/>
                <a:sym typeface="Poppins Bold"/>
              </a:rPr>
              <a:t>Distribusi Tipe Konten</a:t>
            </a:r>
          </a:p>
          <a:p>
            <a:pPr algn="l">
              <a:lnSpc>
                <a:spcPts val="3354"/>
              </a:lnSpc>
            </a:pPr>
          </a:p>
        </p:txBody>
      </p:sp>
      <p:sp>
        <p:nvSpPr>
          <p:cNvPr name="TextBox 5" id="5"/>
          <p:cNvSpPr txBox="true"/>
          <p:nvPr/>
        </p:nvSpPr>
        <p:spPr>
          <a:xfrm rot="0">
            <a:off x="1518116" y="3486411"/>
            <a:ext cx="14798066" cy="1263015"/>
          </a:xfrm>
          <a:prstGeom prst="rect">
            <a:avLst/>
          </a:prstGeom>
        </p:spPr>
        <p:txBody>
          <a:bodyPr anchor="t" rtlCol="false" tIns="0" lIns="0" bIns="0" rIns="0">
            <a:spAutoFit/>
          </a:bodyPr>
          <a:lstStyle/>
          <a:p>
            <a:pPr algn="l">
              <a:lnSpc>
                <a:spcPts val="3359"/>
              </a:lnSpc>
              <a:spcBef>
                <a:spcPct val="0"/>
              </a:spcBef>
            </a:pPr>
            <a:r>
              <a:rPr lang="en-US" sz="2400" spc="-120">
                <a:solidFill>
                  <a:srgbClr val="000000"/>
                </a:solidFill>
                <a:latin typeface="Poppins"/>
                <a:ea typeface="Poppins"/>
                <a:cs typeface="Poppins"/>
                <a:sym typeface="Poppins"/>
              </a:rPr>
              <a:t>Hasil analisis menunjukkan bahwa tipe konten Movie mendominasi di Netflix dibandingkan dengan TV Show. Hal ini menunjukkan bahwa Netflix lebih banyak menyediakan Movie sebagai strategi utama untuk memenuhi kebutuhan hiburan pengguna.</a:t>
            </a:r>
          </a:p>
        </p:txBody>
      </p:sp>
      <p:sp>
        <p:nvSpPr>
          <p:cNvPr name="TextBox 6" id="6"/>
          <p:cNvSpPr txBox="true"/>
          <p:nvPr/>
        </p:nvSpPr>
        <p:spPr>
          <a:xfrm rot="0">
            <a:off x="1074531" y="5076825"/>
            <a:ext cx="16184769" cy="424910"/>
          </a:xfrm>
          <a:prstGeom prst="rect">
            <a:avLst/>
          </a:prstGeom>
        </p:spPr>
        <p:txBody>
          <a:bodyPr anchor="t" rtlCol="false" tIns="0" lIns="0" bIns="0" rIns="0">
            <a:spAutoFit/>
          </a:bodyPr>
          <a:lstStyle/>
          <a:p>
            <a:pPr algn="l" marL="517350" indent="-258675" lvl="1">
              <a:lnSpc>
                <a:spcPts val="3354"/>
              </a:lnSpc>
              <a:buAutoNum type="arabicPeriod" startAt="1"/>
            </a:pPr>
            <a:r>
              <a:rPr lang="en-US" b="true" sz="2396">
                <a:solidFill>
                  <a:srgbClr val="000000"/>
                </a:solidFill>
                <a:latin typeface="Poppins Bold"/>
                <a:ea typeface="Poppins Bold"/>
                <a:cs typeface="Poppins Bold"/>
                <a:sym typeface="Poppins Bold"/>
              </a:rPr>
              <a:t>Distribusi Negara Produksi Berdasar Tipe Konten</a:t>
            </a:r>
          </a:p>
        </p:txBody>
      </p:sp>
      <p:sp>
        <p:nvSpPr>
          <p:cNvPr name="TextBox 7" id="7"/>
          <p:cNvSpPr txBox="true"/>
          <p:nvPr/>
        </p:nvSpPr>
        <p:spPr>
          <a:xfrm rot="0">
            <a:off x="1518116" y="5653983"/>
            <a:ext cx="14934023" cy="843915"/>
          </a:xfrm>
          <a:prstGeom prst="rect">
            <a:avLst/>
          </a:prstGeom>
        </p:spPr>
        <p:txBody>
          <a:bodyPr anchor="t" rtlCol="false" tIns="0" lIns="0" bIns="0" rIns="0">
            <a:spAutoFit/>
          </a:bodyPr>
          <a:lstStyle/>
          <a:p>
            <a:pPr algn="l">
              <a:lnSpc>
                <a:spcPts val="3359"/>
              </a:lnSpc>
              <a:spcBef>
                <a:spcPct val="0"/>
              </a:spcBef>
            </a:pPr>
            <a:r>
              <a:rPr lang="en-US" sz="2400" spc="-120">
                <a:solidFill>
                  <a:srgbClr val="000000"/>
                </a:solidFill>
                <a:latin typeface="Poppins"/>
                <a:ea typeface="Poppins"/>
                <a:cs typeface="Poppins"/>
                <a:sym typeface="Poppins"/>
              </a:rPr>
              <a:t>United State menjadi negara dengan kontribusi konten terbesar untuk Movie maupun Tv Show. Selain itu negara seperti India dan United Kigdom juga memiliki kontribusi yang cukup tinggi dalam produksi.</a:t>
            </a:r>
          </a:p>
        </p:txBody>
      </p:sp>
      <p:sp>
        <p:nvSpPr>
          <p:cNvPr name="TextBox 8" id="8"/>
          <p:cNvSpPr txBox="true"/>
          <p:nvPr/>
        </p:nvSpPr>
        <p:spPr>
          <a:xfrm rot="0">
            <a:off x="1074531" y="6954015"/>
            <a:ext cx="16184769" cy="424910"/>
          </a:xfrm>
          <a:prstGeom prst="rect">
            <a:avLst/>
          </a:prstGeom>
        </p:spPr>
        <p:txBody>
          <a:bodyPr anchor="t" rtlCol="false" tIns="0" lIns="0" bIns="0" rIns="0">
            <a:spAutoFit/>
          </a:bodyPr>
          <a:lstStyle/>
          <a:p>
            <a:pPr algn="l" marL="517350" indent="-258675" lvl="1">
              <a:lnSpc>
                <a:spcPts val="3354"/>
              </a:lnSpc>
              <a:buAutoNum type="arabicPeriod" startAt="1"/>
            </a:pPr>
            <a:r>
              <a:rPr lang="en-US" b="true" sz="2396">
                <a:solidFill>
                  <a:srgbClr val="000000"/>
                </a:solidFill>
                <a:latin typeface="Poppins Bold"/>
                <a:ea typeface="Poppins Bold"/>
                <a:cs typeface="Poppins Bold"/>
                <a:sym typeface="Poppins Bold"/>
              </a:rPr>
              <a:t>Distribusi Rating Group Berdasar Negara</a:t>
            </a:r>
          </a:p>
        </p:txBody>
      </p:sp>
      <p:sp>
        <p:nvSpPr>
          <p:cNvPr name="TextBox 9" id="9"/>
          <p:cNvSpPr txBox="true"/>
          <p:nvPr/>
        </p:nvSpPr>
        <p:spPr>
          <a:xfrm rot="0">
            <a:off x="1518116" y="7475258"/>
            <a:ext cx="14934023" cy="1263015"/>
          </a:xfrm>
          <a:prstGeom prst="rect">
            <a:avLst/>
          </a:prstGeom>
        </p:spPr>
        <p:txBody>
          <a:bodyPr anchor="t" rtlCol="false" tIns="0" lIns="0" bIns="0" rIns="0">
            <a:spAutoFit/>
          </a:bodyPr>
          <a:lstStyle/>
          <a:p>
            <a:pPr algn="l">
              <a:lnSpc>
                <a:spcPts val="3359"/>
              </a:lnSpc>
              <a:spcBef>
                <a:spcPct val="0"/>
              </a:spcBef>
            </a:pPr>
            <a:r>
              <a:rPr lang="en-US" sz="2400" spc="-120">
                <a:solidFill>
                  <a:srgbClr val="000000"/>
                </a:solidFill>
                <a:latin typeface="Poppins"/>
                <a:ea typeface="Poppins"/>
                <a:cs typeface="Poppins"/>
                <a:sym typeface="Poppins"/>
              </a:rPr>
              <a:t>Kategori Adult mendominasi pada sebagian besar negara produksi, terutama pada negara United State. Sementara itu negara lain juga mendominasi kategori teens. Hal ini menunjukkan bahwa Netflix lebih fokus pada target audiens remaja hingga dewasa.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Insight</a:t>
            </a:r>
          </a:p>
        </p:txBody>
      </p:sp>
      <p:grpSp>
        <p:nvGrpSpPr>
          <p:cNvPr name="Group 4" id="4"/>
          <p:cNvGrpSpPr/>
          <p:nvPr/>
        </p:nvGrpSpPr>
        <p:grpSpPr>
          <a:xfrm rot="0">
            <a:off x="1074531" y="3371381"/>
            <a:ext cx="16184769" cy="1700847"/>
            <a:chOff x="0" y="0"/>
            <a:chExt cx="21579693" cy="2267796"/>
          </a:xfrm>
        </p:grpSpPr>
        <p:sp>
          <p:nvSpPr>
            <p:cNvPr name="TextBox 5" id="5"/>
            <p:cNvSpPr txBox="true"/>
            <p:nvPr/>
          </p:nvSpPr>
          <p:spPr>
            <a:xfrm rot="0">
              <a:off x="0" y="-66675"/>
              <a:ext cx="21579693" cy="544322"/>
            </a:xfrm>
            <a:prstGeom prst="rect">
              <a:avLst/>
            </a:prstGeom>
          </p:spPr>
          <p:txBody>
            <a:bodyPr anchor="t" rtlCol="false" tIns="0" lIns="0" bIns="0" rIns="0">
              <a:spAutoFit/>
            </a:bodyPr>
            <a:lstStyle/>
            <a:p>
              <a:pPr algn="l" marL="517350" indent="-258675" lvl="1">
                <a:lnSpc>
                  <a:spcPts val="3354"/>
                </a:lnSpc>
                <a:buAutoNum type="arabicPeriod" startAt="1"/>
              </a:pPr>
              <a:r>
                <a:rPr lang="en-US" b="true" sz="2396">
                  <a:solidFill>
                    <a:srgbClr val="000000"/>
                  </a:solidFill>
                  <a:latin typeface="Poppins Bold"/>
                  <a:ea typeface="Poppins Bold"/>
                  <a:cs typeface="Poppins Bold"/>
                  <a:sym typeface="Poppins Bold"/>
                </a:rPr>
                <a:t>Dominasi Genre</a:t>
              </a:r>
            </a:p>
          </p:txBody>
        </p:sp>
        <p:sp>
          <p:nvSpPr>
            <p:cNvPr name="TextBox 6" id="6"/>
            <p:cNvSpPr txBox="true"/>
            <p:nvPr/>
          </p:nvSpPr>
          <p:spPr>
            <a:xfrm rot="0">
              <a:off x="652554" y="606001"/>
              <a:ext cx="19912031" cy="1661795"/>
            </a:xfrm>
            <a:prstGeom prst="rect">
              <a:avLst/>
            </a:prstGeom>
          </p:spPr>
          <p:txBody>
            <a:bodyPr anchor="t" rtlCol="false" tIns="0" lIns="0" bIns="0" rIns="0">
              <a:spAutoFit/>
            </a:bodyPr>
            <a:lstStyle/>
            <a:p>
              <a:pPr algn="l">
                <a:lnSpc>
                  <a:spcPts val="3359"/>
                </a:lnSpc>
                <a:spcBef>
                  <a:spcPct val="0"/>
                </a:spcBef>
              </a:pPr>
              <a:r>
                <a:rPr lang="en-US" sz="2400" spc="-120">
                  <a:solidFill>
                    <a:srgbClr val="000000"/>
                  </a:solidFill>
                  <a:latin typeface="Poppins"/>
                  <a:ea typeface="Poppins"/>
                  <a:cs typeface="Poppins"/>
                  <a:sym typeface="Poppins"/>
                </a:rPr>
                <a:t>Genre seperti Dramas, Internasional Movie menjadi genre yang paling banyak tersedia di Netflix. Hal ini menunjukkan bahwa fokus terbesar Netflix menyediakan konten drama  internasional untuk menjangkau penggunaan global </a:t>
              </a:r>
            </a:p>
          </p:txBody>
        </p:sp>
      </p:grpSp>
      <p:grpSp>
        <p:nvGrpSpPr>
          <p:cNvPr name="Group 7" id="7"/>
          <p:cNvGrpSpPr/>
          <p:nvPr/>
        </p:nvGrpSpPr>
        <p:grpSpPr>
          <a:xfrm rot="0">
            <a:off x="1028700" y="5681074"/>
            <a:ext cx="16184769" cy="1281747"/>
            <a:chOff x="0" y="0"/>
            <a:chExt cx="21579693" cy="1708996"/>
          </a:xfrm>
        </p:grpSpPr>
        <p:sp>
          <p:nvSpPr>
            <p:cNvPr name="TextBox 8" id="8"/>
            <p:cNvSpPr txBox="true"/>
            <p:nvPr/>
          </p:nvSpPr>
          <p:spPr>
            <a:xfrm rot="0">
              <a:off x="0" y="-66675"/>
              <a:ext cx="21579693" cy="544322"/>
            </a:xfrm>
            <a:prstGeom prst="rect">
              <a:avLst/>
            </a:prstGeom>
          </p:spPr>
          <p:txBody>
            <a:bodyPr anchor="t" rtlCol="false" tIns="0" lIns="0" bIns="0" rIns="0">
              <a:spAutoFit/>
            </a:bodyPr>
            <a:lstStyle/>
            <a:p>
              <a:pPr algn="l" marL="517350" indent="-258675" lvl="1">
                <a:lnSpc>
                  <a:spcPts val="3354"/>
                </a:lnSpc>
                <a:buAutoNum type="arabicPeriod" startAt="1"/>
              </a:pPr>
              <a:r>
                <a:rPr lang="en-US" b="true" sz="2396">
                  <a:solidFill>
                    <a:srgbClr val="000000"/>
                  </a:solidFill>
                  <a:latin typeface="Poppins Bold"/>
                  <a:ea typeface="Poppins Bold"/>
                  <a:cs typeface="Poppins Bold"/>
                  <a:sym typeface="Poppins Bold"/>
                </a:rPr>
                <a:t>Distribusi Rating Group</a:t>
              </a:r>
            </a:p>
          </p:txBody>
        </p:sp>
        <p:sp>
          <p:nvSpPr>
            <p:cNvPr name="TextBox 9" id="9"/>
            <p:cNvSpPr txBox="true"/>
            <p:nvPr/>
          </p:nvSpPr>
          <p:spPr>
            <a:xfrm rot="0">
              <a:off x="652554" y="606001"/>
              <a:ext cx="19912031" cy="1102995"/>
            </a:xfrm>
            <a:prstGeom prst="rect">
              <a:avLst/>
            </a:prstGeom>
          </p:spPr>
          <p:txBody>
            <a:bodyPr anchor="t" rtlCol="false" tIns="0" lIns="0" bIns="0" rIns="0">
              <a:spAutoFit/>
            </a:bodyPr>
            <a:lstStyle/>
            <a:p>
              <a:pPr algn="l">
                <a:lnSpc>
                  <a:spcPts val="3359"/>
                </a:lnSpc>
                <a:spcBef>
                  <a:spcPct val="0"/>
                </a:spcBef>
              </a:pPr>
              <a:r>
                <a:rPr lang="en-US" sz="2400" spc="-120">
                  <a:solidFill>
                    <a:srgbClr val="000000"/>
                  </a:solidFill>
                  <a:latin typeface="Poppins"/>
                  <a:ea typeface="Poppins"/>
                  <a:cs typeface="Poppins"/>
                  <a:sym typeface="Poppins"/>
                </a:rPr>
                <a:t>Kelompok usia Adult dan Teens memiliki jumlah konten tertinggi dibanding dengan Children dan General. Netflix lebih banyak dalam menyediakan konten yang ditujukan untuk penonton remaja dan dewasa.</a:t>
              </a:r>
            </a:p>
          </p:txBody>
        </p:sp>
      </p:grpSp>
      <p:grpSp>
        <p:nvGrpSpPr>
          <p:cNvPr name="Group 10" id="10"/>
          <p:cNvGrpSpPr/>
          <p:nvPr/>
        </p:nvGrpSpPr>
        <p:grpSpPr>
          <a:xfrm rot="0">
            <a:off x="1074531" y="7571667"/>
            <a:ext cx="16184769" cy="1281747"/>
            <a:chOff x="0" y="0"/>
            <a:chExt cx="21579693" cy="1708996"/>
          </a:xfrm>
        </p:grpSpPr>
        <p:sp>
          <p:nvSpPr>
            <p:cNvPr name="TextBox 11" id="11"/>
            <p:cNvSpPr txBox="true"/>
            <p:nvPr/>
          </p:nvSpPr>
          <p:spPr>
            <a:xfrm rot="0">
              <a:off x="0" y="-66675"/>
              <a:ext cx="21579693" cy="544322"/>
            </a:xfrm>
            <a:prstGeom prst="rect">
              <a:avLst/>
            </a:prstGeom>
          </p:spPr>
          <p:txBody>
            <a:bodyPr anchor="t" rtlCol="false" tIns="0" lIns="0" bIns="0" rIns="0">
              <a:spAutoFit/>
            </a:bodyPr>
            <a:lstStyle/>
            <a:p>
              <a:pPr algn="l" marL="517350" indent="-258675" lvl="1">
                <a:lnSpc>
                  <a:spcPts val="3354"/>
                </a:lnSpc>
                <a:buAutoNum type="arabicPeriod" startAt="1"/>
              </a:pPr>
              <a:r>
                <a:rPr lang="en-US" b="true" sz="2396">
                  <a:solidFill>
                    <a:srgbClr val="000000"/>
                  </a:solidFill>
                  <a:latin typeface="Poppins Bold"/>
                  <a:ea typeface="Poppins Bold"/>
                  <a:cs typeface="Poppins Bold"/>
                  <a:sym typeface="Poppins Bold"/>
                </a:rPr>
                <a:t>Distribusi Tipe Konten berdasar Tahun</a:t>
              </a:r>
            </a:p>
          </p:txBody>
        </p:sp>
        <p:sp>
          <p:nvSpPr>
            <p:cNvPr name="TextBox 12" id="12"/>
            <p:cNvSpPr txBox="true"/>
            <p:nvPr/>
          </p:nvSpPr>
          <p:spPr>
            <a:xfrm rot="0">
              <a:off x="652554" y="606001"/>
              <a:ext cx="19912031" cy="1102995"/>
            </a:xfrm>
            <a:prstGeom prst="rect">
              <a:avLst/>
            </a:prstGeom>
          </p:spPr>
          <p:txBody>
            <a:bodyPr anchor="t" rtlCol="false" tIns="0" lIns="0" bIns="0" rIns="0">
              <a:spAutoFit/>
            </a:bodyPr>
            <a:lstStyle/>
            <a:p>
              <a:pPr algn="l">
                <a:lnSpc>
                  <a:spcPts val="3359"/>
                </a:lnSpc>
                <a:spcBef>
                  <a:spcPct val="0"/>
                </a:spcBef>
              </a:pPr>
              <a:r>
                <a:rPr lang="en-US" sz="2400" spc="-120">
                  <a:solidFill>
                    <a:srgbClr val="000000"/>
                  </a:solidFill>
                  <a:latin typeface="Poppins"/>
                  <a:ea typeface="Poppins"/>
                  <a:cs typeface="Poppins"/>
                  <a:sym typeface="Poppins"/>
                </a:rPr>
                <a:t>Setelah tahun 2015 terjadi peningkatan yang signifikan dalam penambahan konten di Netflix dan Netflix sendiri memiliki konten rilisan terbanyak pada tahun 2017</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Recommendation</a:t>
            </a:r>
          </a:p>
        </p:txBody>
      </p:sp>
      <p:sp>
        <p:nvSpPr>
          <p:cNvPr name="TextBox 4" id="4"/>
          <p:cNvSpPr txBox="true"/>
          <p:nvPr/>
        </p:nvSpPr>
        <p:spPr>
          <a:xfrm rot="0">
            <a:off x="1028700" y="3190277"/>
            <a:ext cx="15803463" cy="4970930"/>
          </a:xfrm>
          <a:prstGeom prst="rect">
            <a:avLst/>
          </a:prstGeom>
        </p:spPr>
        <p:txBody>
          <a:bodyPr anchor="t" rtlCol="false" tIns="0" lIns="0" bIns="0" rIns="0">
            <a:spAutoFit/>
          </a:bodyPr>
          <a:lstStyle/>
          <a:p>
            <a:pPr algn="l" marL="504814" indent="-252407" lvl="1">
              <a:lnSpc>
                <a:spcPts val="3039"/>
              </a:lnSpc>
              <a:buAutoNum type="arabicPeriod" startAt="1"/>
            </a:pPr>
            <a:r>
              <a:rPr lang="en-US" sz="2338" spc="116">
                <a:solidFill>
                  <a:srgbClr val="000000"/>
                </a:solidFill>
                <a:latin typeface="Poppins"/>
                <a:ea typeface="Poppins"/>
                <a:cs typeface="Poppins"/>
                <a:sym typeface="Poppins"/>
              </a:rPr>
              <a:t>Netflix dapat meningkatkan produksi TV Show untuk meningkatkan pengguna dan mendorong penguna baru karena Movie masih jauh lebih dominan dibanding dengan TV Show</a:t>
            </a:r>
          </a:p>
          <a:p>
            <a:pPr algn="l" marL="504814" indent="-252407" lvl="1">
              <a:lnSpc>
                <a:spcPts val="3039"/>
              </a:lnSpc>
              <a:buAutoNum type="arabicPeriod" startAt="1"/>
            </a:pPr>
            <a:r>
              <a:rPr lang="en-US" sz="2338" spc="116">
                <a:solidFill>
                  <a:srgbClr val="000000"/>
                </a:solidFill>
                <a:latin typeface="Poppins"/>
                <a:ea typeface="Poppins"/>
                <a:cs typeface="Poppins"/>
                <a:sym typeface="Poppins"/>
              </a:rPr>
              <a:t>Negara dengan kontribusi produksi tertinggi seperti United State, United Kigdom dan India dapat diajak kerja sama untuk memperkuat pasar internasional</a:t>
            </a:r>
          </a:p>
          <a:p>
            <a:pPr algn="l" marL="504814" indent="-252407" lvl="1">
              <a:lnSpc>
                <a:spcPts val="3039"/>
              </a:lnSpc>
              <a:buAutoNum type="arabicPeriod" startAt="1"/>
            </a:pPr>
            <a:r>
              <a:rPr lang="en-US" sz="2338" spc="116">
                <a:solidFill>
                  <a:srgbClr val="000000"/>
                </a:solidFill>
                <a:latin typeface="Poppins"/>
                <a:ea typeface="Poppins"/>
                <a:cs typeface="Poppins"/>
                <a:sym typeface="Poppins"/>
              </a:rPr>
              <a:t>Netflix dapat mempertahankan konten Adult dan Teens, namun tetap memperluas konten Children dan General untuk memperluas pengguna keluarga</a:t>
            </a:r>
          </a:p>
          <a:p>
            <a:pPr algn="l" marL="504814" indent="-252407" lvl="1">
              <a:lnSpc>
                <a:spcPts val="3039"/>
              </a:lnSpc>
              <a:buAutoNum type="arabicPeriod" startAt="1"/>
            </a:pPr>
            <a:r>
              <a:rPr lang="en-US" sz="2338" spc="116">
                <a:solidFill>
                  <a:srgbClr val="000000"/>
                </a:solidFill>
                <a:latin typeface="Poppins"/>
                <a:ea typeface="Poppins"/>
                <a:cs typeface="Poppins"/>
                <a:sym typeface="Poppins"/>
              </a:rPr>
              <a:t>Netflix dapat meningkatkan produksi dan akuisis genre populer seperti Internasional Movies, Drama karena genre tersebut memiliki jumlah konten tertinggi dan berpotensi meningkatkan jumlah pengguna</a:t>
            </a:r>
          </a:p>
          <a:p>
            <a:pPr algn="l" marL="504814" indent="-252407" lvl="1">
              <a:lnSpc>
                <a:spcPts val="3039"/>
              </a:lnSpc>
              <a:spcBef>
                <a:spcPct val="0"/>
              </a:spcBef>
              <a:buAutoNum type="arabicPeriod" startAt="1"/>
            </a:pPr>
            <a:r>
              <a:rPr lang="en-US" sz="2338" spc="116">
                <a:solidFill>
                  <a:srgbClr val="000000"/>
                </a:solidFill>
                <a:latin typeface="Poppins"/>
                <a:ea typeface="Poppins"/>
                <a:cs typeface="Poppins"/>
                <a:sym typeface="Poppins"/>
              </a:rPr>
              <a:t>Netflix dapat terus memperluas konten terbaru karena pertumbuhan konten setelah tahun 2015 menunjukan tingginya aktivitas penambahan konten dan kebutuhan tontonan pengguna</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284287"/>
            <a:ext cx="15025348" cy="1111251"/>
          </a:xfrm>
          <a:prstGeom prst="rect">
            <a:avLst/>
          </a:prstGeom>
        </p:spPr>
        <p:txBody>
          <a:bodyPr anchor="t" rtlCol="false" tIns="0" lIns="0" bIns="0" rIns="0">
            <a:spAutoFit/>
          </a:bodyPr>
          <a:lstStyle/>
          <a:p>
            <a:pPr algn="l">
              <a:lnSpc>
                <a:spcPts val="7600"/>
              </a:lnSpc>
            </a:pPr>
            <a:r>
              <a:rPr lang="en-US" b="true" sz="8000" spc="-400">
                <a:solidFill>
                  <a:srgbClr val="000000"/>
                </a:solidFill>
                <a:latin typeface="Poppins Bold"/>
                <a:ea typeface="Poppins Bold"/>
                <a:cs typeface="Poppins Bold"/>
                <a:sym typeface="Poppins Bold"/>
              </a:rPr>
              <a:t>Conclusion</a:t>
            </a:r>
          </a:p>
        </p:txBody>
      </p:sp>
      <p:sp>
        <p:nvSpPr>
          <p:cNvPr name="TextBox 4" id="4"/>
          <p:cNvSpPr txBox="true"/>
          <p:nvPr/>
        </p:nvSpPr>
        <p:spPr>
          <a:xfrm rot="0">
            <a:off x="1028700" y="3121018"/>
            <a:ext cx="16230600" cy="5050790"/>
          </a:xfrm>
          <a:prstGeom prst="rect">
            <a:avLst/>
          </a:prstGeom>
        </p:spPr>
        <p:txBody>
          <a:bodyPr anchor="t" rtlCol="false" tIns="0" lIns="0" bIns="0" rIns="0">
            <a:spAutoFit/>
          </a:bodyPr>
          <a:lstStyle/>
          <a:p>
            <a:pPr algn="ctr">
              <a:lnSpc>
                <a:spcPts val="3639"/>
              </a:lnSpc>
            </a:pPr>
            <a:r>
              <a:rPr lang="en-US" sz="2799" spc="139">
                <a:solidFill>
                  <a:srgbClr val="000000"/>
                </a:solidFill>
                <a:latin typeface="Poppins"/>
                <a:ea typeface="Poppins"/>
                <a:cs typeface="Poppins"/>
                <a:sym typeface="Poppins"/>
              </a:rPr>
              <a:t>Berdasarkan hasil analisis pada dataset Netflix, konten didominasi oleh Movie dibandingkan dengan TV Show dan jumlah konten mengalami peningkatan setelah tahun 2015. Dominasi penambahan konten pada tahun-tahun terbaru mengindikasikan bahwa Netflix berfokus menjaga platform tetap relevan, kompetitif, dan mampu meningkatkan jumlah pengguna melalui pembaruan katalog secara konsisten.</a:t>
            </a:r>
          </a:p>
          <a:p>
            <a:pPr algn="ctr">
              <a:lnSpc>
                <a:spcPts val="3639"/>
              </a:lnSpc>
            </a:pPr>
          </a:p>
          <a:p>
            <a:pPr algn="ctr">
              <a:lnSpc>
                <a:spcPts val="3639"/>
              </a:lnSpc>
              <a:spcBef>
                <a:spcPct val="0"/>
              </a:spcBef>
            </a:pPr>
            <a:r>
              <a:rPr lang="en-US" sz="2799" spc="139">
                <a:solidFill>
                  <a:srgbClr val="000000"/>
                </a:solidFill>
                <a:latin typeface="Poppins"/>
                <a:ea typeface="Poppins"/>
                <a:cs typeface="Poppins"/>
                <a:sym typeface="Poppins"/>
              </a:rPr>
              <a:t>Genre yang paling dominan adalah Dramas, International Movies, sehingga Netflix lebih banyak menargetkan hiburan internasional dan drama. Selain itu kategori rating Adult dan Teens mendominasi yang menunjukkan fokus utamanya pada audiens remaja hingga dewasa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5394483" y="1938832"/>
            <a:ext cx="7499034" cy="3936993"/>
          </a:xfrm>
          <a:custGeom>
            <a:avLst/>
            <a:gdLst/>
            <a:ahLst/>
            <a:cxnLst/>
            <a:rect r="r" b="b" t="t" l="l"/>
            <a:pathLst>
              <a:path h="3936993" w="7499034">
                <a:moveTo>
                  <a:pt x="0" y="0"/>
                </a:moveTo>
                <a:lnTo>
                  <a:pt x="7499034" y="0"/>
                </a:lnTo>
                <a:lnTo>
                  <a:pt x="7499034" y="3936993"/>
                </a:lnTo>
                <a:lnTo>
                  <a:pt x="0" y="3936993"/>
                </a:lnTo>
                <a:lnTo>
                  <a:pt x="0" y="0"/>
                </a:lnTo>
                <a:close/>
              </a:path>
            </a:pathLst>
          </a:custGeom>
          <a:blipFill>
            <a:blip r:embed="rId3"/>
            <a:stretch>
              <a:fillRect l="0" t="0" r="0" b="0"/>
            </a:stretch>
          </a:blipFill>
        </p:spPr>
      </p:sp>
      <p:sp>
        <p:nvSpPr>
          <p:cNvPr name="TextBox 4" id="4"/>
          <p:cNvSpPr txBox="true"/>
          <p:nvPr/>
        </p:nvSpPr>
        <p:spPr>
          <a:xfrm rot="0">
            <a:off x="4951274" y="5721872"/>
            <a:ext cx="8385453" cy="1260467"/>
          </a:xfrm>
          <a:prstGeom prst="rect">
            <a:avLst/>
          </a:prstGeom>
        </p:spPr>
        <p:txBody>
          <a:bodyPr anchor="t" rtlCol="false" tIns="0" lIns="0" bIns="0" rIns="0">
            <a:spAutoFit/>
          </a:bodyPr>
          <a:lstStyle/>
          <a:p>
            <a:pPr algn="l">
              <a:lnSpc>
                <a:spcPts val="8644"/>
              </a:lnSpc>
            </a:pPr>
            <a:r>
              <a:rPr lang="en-US" b="true" sz="9099" spc="-454">
                <a:solidFill>
                  <a:srgbClr val="000000"/>
                </a:solidFill>
                <a:latin typeface="Poppins Bold"/>
                <a:ea typeface="Poppins Bold"/>
                <a:cs typeface="Poppins Bold"/>
                <a:sym typeface="Poppins Bold"/>
              </a:rPr>
              <a:t>Terima Kasih :D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DAHKRyyPlBc</dc:identifier>
  <dcterms:modified xsi:type="dcterms:W3CDTF">2011-08-01T06:04:30Z</dcterms:modified>
  <cp:revision>1</cp:revision>
  <dc:title>Netflix Kelompok 4</dc:title>
</cp:coreProperties>
</file>